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2" r:id="rId9"/>
    <p:sldId id="263" r:id="rId10"/>
  </p:sldIdLst>
  <p:sldSz cx="14630400" cy="8229600"/>
  <p:notesSz cx="8229600" cy="14630400"/>
  <p:embeddedFontLst>
    <p:embeddedFont>
      <p:font typeface="Aharoni" panose="02010803020104030203" pitchFamily="2" charset="-79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Fraunces Extra Bold" panose="020B0604020202020204" charset="0"/>
      <p:regular r:id="rId17"/>
    </p:embeddedFont>
    <p:embeddedFont>
      <p:font typeface="Nobile" panose="020B0604020202020204" charset="0"/>
      <p:regular r:id="rId18"/>
      <p:bold r:id="rId19"/>
      <p:italic r:id="rId20"/>
      <p:boldItalic r:id="rId21"/>
    </p:embeddedFont>
  </p:embeddedFontLst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FFEB"/>
    <a:srgbClr val="FAFF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3638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9C236-4D35-73E7-A6C7-C788A2DD01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5F5A5A-0775-21E1-8472-5A19D870C6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25AAF-919B-ADDE-23AF-E388C53C1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1A0F8-C414-BEBF-49FB-A5AC04F6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81D2C-136F-8031-FBC4-C6B79AAD1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7952592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7CB98-E498-1B5C-EA50-18E34C541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A4479-1B71-749B-88E1-BF107C855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96434-15ED-2A89-E911-EC140936E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A5C46-A0B9-93CE-0591-41FFD31BE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0523E-D5AA-8B97-CE97-1B2C02E4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86844761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6F044-D619-FAA0-498D-8BE7CC96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335ED-933A-872F-5C8F-FF78174A7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6C862-CEB8-93D3-E03A-4DC1DA4E4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76903-BAC5-8CF8-22F6-AAD5F5241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C3D73-4DED-1162-7816-77EBDC2B2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0754979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0032D-5BBE-9AD5-7A01-88C2DA766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EDD0E-F5B8-BBA4-4F2D-13F3EF950F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38205-ADAF-C882-8499-416F0299F2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D6493-5181-526F-90DD-4A9CEED5E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600D3-8AAE-1925-B26C-E11018C13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82BBF2-1B5A-80E0-C6FC-BAE646C66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331877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D2E11-2474-93F9-3465-4A712067B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85BF8-3666-80FC-4F33-76E2FD3E1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6A151-448C-5A79-4FE7-EBB3B95359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20EFF9-EC6B-C482-7748-B7D7E8A4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479C82-F54B-8999-09F8-A25F9B753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E09823-6F66-C9A8-4423-B9341C43A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A6A96C-35FE-8F38-D255-532D83928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7965BD-B5AA-6219-4412-37F81CCF4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9381882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1DBE-4B8B-ED22-68D8-A4A368318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8A55AC-EF63-702F-C4A3-1EC35EE0B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81C0-6A39-980F-969F-4C997E75D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9C00A2-4841-04ED-BA49-B0214349A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3354361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4FC7EC-6BDD-F617-5AC7-F0400AAEB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78CF40-F644-0632-224E-E682FF83D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62340-56F8-58CE-4946-C10F3288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7052206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526F4-EB60-64D8-61BF-18430E19B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72608-B19E-B4D8-B397-2635957A7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80A783-403F-2090-FDB2-EC0564021E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261CF8-4D9A-0B0A-DA9C-959A5B2B4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6F5CE-2AF8-1D83-4E83-1569D92C6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A6B0BB-9405-BAE8-BA22-72E103A4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3544806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FE03C-2906-EE31-C31E-C3BBBEE7F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4598D3-524A-90F4-3D51-8E882F9E9D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2DDF50-3FA9-BEFB-0C01-8F0D6B44C2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4CD759-7545-13C5-3A00-AE14B0683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2BD4EC-51A3-E029-23CC-C6792ACBA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ABA460-06F6-728E-B0E3-8D857B13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0203673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5E0CA-C7BB-BD13-D78F-0C14EBE76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5CFFB3-73D3-563B-F67F-2EC47648B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445E4-A39A-B95F-7208-E762E731B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40474-0E0C-C869-5C72-3A5192A26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A8FF1-47E9-FCE8-0AAB-B14BEF284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9757657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6BEF5-C383-5842-B53C-C33016BACB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D053B2-5352-3E88-5C17-70486649FE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B9C90-0963-BE6A-7073-A3945F81C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2E09B-AD32-0063-67CE-4BCA8E3B7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9CC7B-9308-4B11-B913-76815C19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4911215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10977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6897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1585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23428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7878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598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36489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8196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FFEB">
            <a:alpha val="6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A9F125-72D3-5D22-13DA-B727EF3B6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7C19B-B4CE-025C-4286-2C1DEBBB4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6C6D0B-555A-4400-DC60-054ECB4119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4094D1-86A1-46A6-95C8-B21369F124B9}" type="datetimeFigureOut">
              <a:rPr lang="en-IL" smtClean="0"/>
              <a:t>01/18/2026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9F669-952D-8D23-DC8A-95E075515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3722B-C621-0137-199E-81835261C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32563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736646" y="235577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Aharoni" panose="02010803020104030203" pitchFamily="2" charset="-79"/>
              </a:rPr>
              <a:t>UTM</a:t>
            </a:r>
            <a:endParaRPr lang="en-US" sz="4450" dirty="0">
              <a:latin typeface="Aptos" panose="020B0004020202020204" pitchFamily="34" charset="0"/>
              <a:cs typeface="Aharoni" panose="02010803020104030203" pitchFamily="2" charset="-79"/>
            </a:endParaRPr>
          </a:p>
        </p:txBody>
      </p:sp>
      <p:sp>
        <p:nvSpPr>
          <p:cNvPr id="4" name="Text 1"/>
          <p:cNvSpPr/>
          <p:nvPr/>
        </p:nvSpPr>
        <p:spPr>
          <a:xfrm>
            <a:off x="793790" y="3404711"/>
            <a:ext cx="75564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dirty="0">
                <a:solidFill>
                  <a:srgbClr val="EB0303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Universal</a:t>
            </a:r>
            <a:r>
              <a:rPr lang="en-US" sz="2200" dirty="0">
                <a:solidFill>
                  <a:srgbClr val="4A644E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</a:t>
            </a:r>
            <a:r>
              <a:rPr lang="en-US" sz="2200" dirty="0">
                <a:solidFill>
                  <a:srgbClr val="E68507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Triage</a:t>
            </a:r>
            <a:r>
              <a:rPr lang="en-US" sz="2200" dirty="0">
                <a:solidFill>
                  <a:srgbClr val="4A644E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</a:t>
            </a:r>
            <a:r>
              <a:rPr lang="en-US" sz="2200" dirty="0">
                <a:solidFill>
                  <a:srgbClr val="65BE03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Model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4113371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universal approach for supporting industrial workflows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3154323" y="48928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Aharoni" panose="02010803020104030203" pitchFamily="2" charset="-79"/>
              </a:rPr>
              <a:t>Team</a:t>
            </a:r>
            <a:r>
              <a:rPr lang="en-US" sz="22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: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93790" y="551092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Abed Haj Yahia, Amit Hazan, Lior Mizrachi</a:t>
            </a:r>
            <a:endParaRPr lang="en-US" sz="17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8B9D605-5D92-D0E6-4E82-AD5D26DA4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2859" y="1003886"/>
            <a:ext cx="6130413" cy="60147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8625" y="516136"/>
            <a:ext cx="2172891" cy="367784"/>
          </a:xfrm>
          <a:prstGeom prst="roundRect">
            <a:avLst>
              <a:gd name="adj" fmla="val 36749"/>
            </a:avLst>
          </a:prstGeom>
          <a:noFill/>
          <a:ln w="7620">
            <a:solidFill>
              <a:srgbClr val="438951"/>
            </a:solidFill>
            <a:prstDash val="solid"/>
          </a:ln>
        </p:spPr>
        <p:txBody>
          <a:bodyPr/>
          <a:lstStyle/>
          <a:p>
            <a:endParaRPr lang="en-IL" sz="20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98759" y="624959"/>
            <a:ext cx="150138" cy="15013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23906" y="579953"/>
            <a:ext cx="1707475" cy="240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00" dirty="0">
                <a:solidFill>
                  <a:srgbClr val="438951"/>
                </a:solidFill>
                <a:ea typeface="Nobile" pitchFamily="34" charset="-122"/>
                <a:cs typeface="Nobile" pitchFamily="34" charset="-120"/>
              </a:rPr>
              <a:t>TECHNICAL APPROACH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378625" y="958929"/>
            <a:ext cx="4692968" cy="586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Model Architecture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378625" y="1620560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Model Pipeline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378625" y="2195274"/>
            <a:ext cx="11873151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GPT-3.5 for data generation, Llama 3.2 baseline, RoBERTa fine-tuning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519357" y="2706767"/>
            <a:ext cx="22860" cy="3380542"/>
          </a:xfrm>
          <a:prstGeom prst="roundRect">
            <a:avLst>
              <a:gd name="adj" fmla="val 739052"/>
            </a:avLst>
          </a:prstGeom>
          <a:solidFill>
            <a:srgbClr val="CED9CE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9" name="Shape 6"/>
          <p:cNvSpPr/>
          <p:nvPr/>
        </p:nvSpPr>
        <p:spPr>
          <a:xfrm>
            <a:off x="1496497" y="2906435"/>
            <a:ext cx="375404" cy="22860"/>
          </a:xfrm>
          <a:prstGeom prst="roundRect">
            <a:avLst>
              <a:gd name="adj" fmla="val 739052"/>
            </a:avLst>
          </a:prstGeom>
          <a:solidFill>
            <a:srgbClr val="CED9CE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0" name="Shape 7"/>
          <p:cNvSpPr/>
          <p:nvPr/>
        </p:nvSpPr>
        <p:spPr>
          <a:xfrm>
            <a:off x="1448991" y="2847499"/>
            <a:ext cx="140732" cy="140732"/>
          </a:xfrm>
          <a:prstGeom prst="roundRect">
            <a:avLst>
              <a:gd name="adj" fmla="val 324873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1" name="Text 8"/>
          <p:cNvSpPr/>
          <p:nvPr/>
        </p:nvSpPr>
        <p:spPr>
          <a:xfrm>
            <a:off x="2270284" y="2771180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Input Processing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270284" y="3176945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Company background (industry, enterprise information system)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2270284" y="3542943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Workflow description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270284" y="3908941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Components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270284" y="4274939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User report ticket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496497" y="5150406"/>
            <a:ext cx="375404" cy="22860"/>
          </a:xfrm>
          <a:prstGeom prst="roundRect">
            <a:avLst>
              <a:gd name="adj" fmla="val 739052"/>
            </a:avLst>
          </a:prstGeom>
          <a:solidFill>
            <a:srgbClr val="CED9CE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7" name="Shape 14"/>
          <p:cNvSpPr/>
          <p:nvPr/>
        </p:nvSpPr>
        <p:spPr>
          <a:xfrm>
            <a:off x="1448991" y="5091470"/>
            <a:ext cx="140732" cy="140732"/>
          </a:xfrm>
          <a:prstGeom prst="roundRect">
            <a:avLst>
              <a:gd name="adj" fmla="val 324873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8" name="Text 15"/>
          <p:cNvSpPr/>
          <p:nvPr/>
        </p:nvSpPr>
        <p:spPr>
          <a:xfrm>
            <a:off x="2270284" y="5015151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Output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2270284" y="5420916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Affected component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270284" y="5786914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Severity level (Medium, High, Critical)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378625" y="6392247"/>
            <a:ext cx="11873151" cy="31075"/>
          </a:xfrm>
          <a:prstGeom prst="rect">
            <a:avLst/>
          </a:prstGeom>
          <a:solidFill>
            <a:srgbClr val="405449">
              <a:alpha val="50000"/>
            </a:srgbClr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22" name="Shape 19"/>
          <p:cNvSpPr/>
          <p:nvPr/>
        </p:nvSpPr>
        <p:spPr>
          <a:xfrm>
            <a:off x="1378625" y="6634401"/>
            <a:ext cx="5842754" cy="1081445"/>
          </a:xfrm>
          <a:prstGeom prst="roundRect">
            <a:avLst>
              <a:gd name="adj" fmla="val 15622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23" name="Text 20"/>
          <p:cNvSpPr/>
          <p:nvPr/>
        </p:nvSpPr>
        <p:spPr>
          <a:xfrm>
            <a:off x="1566267" y="6822043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Component Metrics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566267" y="7227808"/>
            <a:ext cx="5467469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Accuracy, Top-k ranking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409021" y="6634401"/>
            <a:ext cx="5842754" cy="1081445"/>
          </a:xfrm>
          <a:prstGeom prst="roundRect">
            <a:avLst>
              <a:gd name="adj" fmla="val 15622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26" name="Text 23"/>
          <p:cNvSpPr/>
          <p:nvPr/>
        </p:nvSpPr>
        <p:spPr>
          <a:xfrm>
            <a:off x="7596664" y="6822043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Severity Metrics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96664" y="7227808"/>
            <a:ext cx="5467469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F1 Score (macro), Accuracy, Weighted F1</a:t>
            </a:r>
            <a:endParaRPr lang="en-US" sz="16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5B3116F-545F-6DA7-1339-A916F5919E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9021" y="3047828"/>
            <a:ext cx="6707661" cy="36617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B8B1A18-3B98-4EAD-BC99-4A83E184B023}"/>
              </a:ext>
            </a:extLst>
          </p:cNvPr>
          <p:cNvGrpSpPr/>
          <p:nvPr/>
        </p:nvGrpSpPr>
        <p:grpSpPr>
          <a:xfrm>
            <a:off x="891183" y="565594"/>
            <a:ext cx="13003174" cy="7098412"/>
            <a:chOff x="891183" y="565594"/>
            <a:chExt cx="13003174" cy="7098412"/>
          </a:xfrm>
        </p:grpSpPr>
        <p:sp>
          <p:nvSpPr>
            <p:cNvPr id="2" name="Text 0"/>
            <p:cNvSpPr/>
            <p:nvPr/>
          </p:nvSpPr>
          <p:spPr>
            <a:xfrm>
              <a:off x="891183" y="741283"/>
              <a:ext cx="12847915" cy="3249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550"/>
                </a:lnSpc>
                <a:buNone/>
              </a:pPr>
              <a:endParaRPr lang="en-US" sz="155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528536D-DFB0-FA18-5964-C5B35636DA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1183" y="565594"/>
              <a:ext cx="13003174" cy="7098412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877E7C9-3EFB-4F79-8DBC-258B812F36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6331" t="59125" r="2597" b="5675"/>
            <a:stretch/>
          </p:blipFill>
          <p:spPr>
            <a:xfrm>
              <a:off x="9511085" y="2364295"/>
              <a:ext cx="4040372" cy="249865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A62241-AC5F-41BA-909B-9C34BAA49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6292" t="26008" r="2370" b="40031"/>
            <a:stretch/>
          </p:blipFill>
          <p:spPr>
            <a:xfrm>
              <a:off x="9476509" y="4862946"/>
              <a:ext cx="4074948" cy="241069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3790" y="1674852"/>
            <a:ext cx="2306955" cy="426244"/>
          </a:xfrm>
          <a:prstGeom prst="roundRect">
            <a:avLst>
              <a:gd name="adj" fmla="val 38315"/>
            </a:avLst>
          </a:prstGeom>
          <a:solidFill>
            <a:srgbClr val="DDEEE0"/>
          </a:solidFill>
          <a:ln/>
        </p:spPr>
        <p:txBody>
          <a:bodyPr/>
          <a:lstStyle/>
          <a:p>
            <a:endParaRPr lang="en-IL" sz="200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9878" y="1797248"/>
            <a:ext cx="181451" cy="18145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02055" y="1742837"/>
            <a:ext cx="176260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793790" y="219182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Problem &amp; Solution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793790" y="34675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Current Challenge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793790" y="4048720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Manual ticket classification is costly and time-consuming</a:t>
            </a: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793790" y="4978598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High operational costs</a:t>
            </a: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793790" y="5420797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Slow response times</a:t>
            </a: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793790" y="5862995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4856321" y="34675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Our Innovation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856321" y="4048720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Universal AI model adaptable across varied software systems</a:t>
            </a: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4856321" y="4978598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Automated classification</a:t>
            </a: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856321" y="5420797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Multi-company deployment</a:t>
            </a: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4856321" y="5987772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67639" y="456724"/>
            <a:ext cx="1922859" cy="327184"/>
          </a:xfrm>
          <a:prstGeom prst="roundRect">
            <a:avLst>
              <a:gd name="adj" fmla="val 36515"/>
            </a:avLst>
          </a:prstGeom>
          <a:noFill/>
          <a:ln w="7620">
            <a:solidFill>
              <a:srgbClr val="43895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74796" y="553998"/>
            <a:ext cx="132636" cy="132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3749" y="514112"/>
            <a:ext cx="1509593" cy="212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438951"/>
                </a:solidFill>
                <a:ea typeface="Nobile" pitchFamily="34" charset="-122"/>
                <a:cs typeface="Nobile" pitchFamily="34" charset="-120"/>
              </a:rPr>
              <a:t>TECHNICAL APPROACH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067639" y="850225"/>
            <a:ext cx="7582733" cy="518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Model Development &amp; Data Strategy</a:t>
            </a:r>
            <a:endParaRPr lang="en-US" sz="4000" dirty="0">
              <a:latin typeface="Aptos" panose="020B00040202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44779" y="1814632"/>
            <a:ext cx="5164574" cy="1764863"/>
          </a:xfrm>
          <a:prstGeom prst="roundRect">
            <a:avLst>
              <a:gd name="adj" fmla="val 8462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5"/>
          <p:cNvSpPr/>
          <p:nvPr/>
        </p:nvSpPr>
        <p:spPr>
          <a:xfrm>
            <a:off x="2067639" y="1837492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2218254" y="1956731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Data Generation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233493" y="2454412"/>
            <a:ext cx="4787146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~2220 training examples, ~400 test examples</a:t>
            </a:r>
            <a:endParaRPr lang="en-US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375207" y="1814632"/>
            <a:ext cx="5164574" cy="1764863"/>
          </a:xfrm>
          <a:prstGeom prst="roundRect">
            <a:avLst>
              <a:gd name="adj" fmla="val 8462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9"/>
          <p:cNvSpPr/>
          <p:nvPr/>
        </p:nvSpPr>
        <p:spPr>
          <a:xfrm>
            <a:off x="7398068" y="1837492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0"/>
          <p:cNvSpPr/>
          <p:nvPr/>
        </p:nvSpPr>
        <p:spPr>
          <a:xfrm>
            <a:off x="7553442" y="1956732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Baseline Models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553442" y="2511406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Llama 3.2 for zero-shot and few-shot testing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044779" y="3745349"/>
            <a:ext cx="5164574" cy="3506986"/>
          </a:xfrm>
          <a:prstGeom prst="roundRect">
            <a:avLst>
              <a:gd name="adj" fmla="val 4258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6" name="Shape 13"/>
          <p:cNvSpPr/>
          <p:nvPr/>
        </p:nvSpPr>
        <p:spPr>
          <a:xfrm>
            <a:off x="2067639" y="3768209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4"/>
          <p:cNvSpPr/>
          <p:nvPr/>
        </p:nvSpPr>
        <p:spPr>
          <a:xfrm>
            <a:off x="2222929" y="3867745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Fine-Tuned Models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2233493" y="4455996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u="sng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Component Classification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2233493" y="4821042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Binary relevance classifier &amp; ranking model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233493" y="5144534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Metrics: F1, Accuracy, Recall, Precision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233493" y="5702975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u="sng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Severity Classification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2233493" y="6068021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RoBERTa-base for Critical/High/Medium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2233493" y="6391513"/>
            <a:ext cx="4787146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Metrics: F1 (macro &amp; weighted), Accuracy, Recall, Precision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7375207" y="3745349"/>
            <a:ext cx="5164574" cy="3506986"/>
          </a:xfrm>
          <a:prstGeom prst="roundRect">
            <a:avLst>
              <a:gd name="adj" fmla="val 4258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2"/>
          <p:cNvSpPr/>
          <p:nvPr/>
        </p:nvSpPr>
        <p:spPr>
          <a:xfrm>
            <a:off x="7398068" y="3768209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6" name="Text 23"/>
          <p:cNvSpPr/>
          <p:nvPr/>
        </p:nvSpPr>
        <p:spPr>
          <a:xfrm>
            <a:off x="7553443" y="3887449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Refinement Efforts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563922" y="4483715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Increase data diversity &amp; quantity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7563922" y="4807208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Adjust metrics (eval loss for best model)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7563922" y="5130701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Component classification formulated</a:t>
            </a:r>
            <a:b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as a ranking problem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9C7632-5EBA-5AD2-FDAA-06DB3DE6C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555723"/>
              </p:ext>
            </p:extLst>
          </p:nvPr>
        </p:nvGraphicFramePr>
        <p:xfrm>
          <a:off x="945222" y="287771"/>
          <a:ext cx="12934680" cy="7356202"/>
        </p:xfrm>
        <a:graphic>
          <a:graphicData uri="http://schemas.openxmlformats.org/drawingml/2006/table">
            <a:tbl>
              <a:tblPr firstRow="1" firstCol="1" bandRow="1">
                <a:tableStyleId>{68D230F3-CF80-4859-8CE7-A43EE81993B5}</a:tableStyleId>
              </a:tblPr>
              <a:tblGrid>
                <a:gridCol w="4311560">
                  <a:extLst>
                    <a:ext uri="{9D8B030D-6E8A-4147-A177-3AD203B41FA5}">
                      <a16:colId xmlns:a16="http://schemas.microsoft.com/office/drawing/2014/main" val="2678102457"/>
                    </a:ext>
                  </a:extLst>
                </a:gridCol>
                <a:gridCol w="4311560">
                  <a:extLst>
                    <a:ext uri="{9D8B030D-6E8A-4147-A177-3AD203B41FA5}">
                      <a16:colId xmlns:a16="http://schemas.microsoft.com/office/drawing/2014/main" val="838123653"/>
                    </a:ext>
                  </a:extLst>
                </a:gridCol>
                <a:gridCol w="4311560">
                  <a:extLst>
                    <a:ext uri="{9D8B030D-6E8A-4147-A177-3AD203B41FA5}">
                      <a16:colId xmlns:a16="http://schemas.microsoft.com/office/drawing/2014/main" val="4284727693"/>
                    </a:ext>
                  </a:extLst>
                </a:gridCol>
              </a:tblGrid>
              <a:tr h="742021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Category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Component Model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Severity Model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100602772"/>
                  </a:ext>
                </a:extLst>
              </a:tr>
              <a:tr h="82673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Main Task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Binary Classification (Ranker Approach)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Multi-class Classification (3 severity levels)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855637113"/>
                  </a:ext>
                </a:extLst>
              </a:tr>
              <a:tr h="116240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Data Preparation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Explosion: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Splitting each issue into separate rows for every component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Contextual Prompt: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Including Industry, System, and User Experience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285620206"/>
                  </a:ext>
                </a:extLst>
              </a:tr>
              <a:tr h="7420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Number of Epochs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L" sz="2000" dirty="0">
                          <a:solidFill>
                            <a:srgbClr val="1F1F1F"/>
                          </a:solidFill>
                          <a:effectLst/>
                        </a:rPr>
                        <a:t>3</a:t>
                      </a:r>
                      <a:endParaRPr lang="en-IL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10 (with Early Stopping)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369595302"/>
                  </a:ext>
                </a:extLst>
              </a:tr>
              <a:tr h="74551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Learning Rate (LR)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3e-5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1e-5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48868380"/>
                  </a:ext>
                </a:extLst>
              </a:tr>
              <a:tr h="7420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Layer Freezing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None (Full training)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Freezing the first 4 layers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718079923"/>
                  </a:ext>
                </a:extLst>
              </a:tr>
              <a:tr h="82673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Imbalance Management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 err="1">
                          <a:solidFill>
                            <a:srgbClr val="444746"/>
                          </a:solidFill>
                          <a:effectLst/>
                        </a:rPr>
                        <a:t>WeightedTrainer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(weights for Label 1)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 err="1">
                          <a:solidFill>
                            <a:srgbClr val="444746"/>
                          </a:solidFill>
                          <a:effectLst/>
                        </a:rPr>
                        <a:t>WeightedTrainer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(weights for Critical and High)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18743446"/>
                  </a:ext>
                </a:extLst>
              </a:tr>
              <a:tr h="7420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Primary Metrics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rgbClr val="1F1F1F"/>
                          </a:solidFill>
                          <a:effectLst/>
                        </a:rPr>
                        <a:t>Top-2 Accuracy</a:t>
                      </a: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 and F1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rgbClr val="1F1F1F"/>
                          </a:solidFill>
                          <a:effectLst/>
                        </a:rPr>
                        <a:t>Macro-F1</a:t>
                      </a: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 and Accuracy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149082327"/>
                  </a:ext>
                </a:extLst>
              </a:tr>
              <a:tr h="82673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Regularization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Early Stopping, Weight Decay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Early Stopping, Weight Decay, Layer Freezing, Warmup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635172594"/>
                  </a:ext>
                </a:extLst>
              </a:tr>
            </a:tbl>
          </a:graphicData>
        </a:graphic>
      </p:graphicFrame>
      <p:pic>
        <p:nvPicPr>
          <p:cNvPr id="4" name="Graphic 3" descr="Gauge outline">
            <a:extLst>
              <a:ext uri="{FF2B5EF4-FFF2-40B4-BE49-F238E27FC236}">
                <a16:creationId xmlns:a16="http://schemas.microsoft.com/office/drawing/2014/main" id="{7A058B7D-8C5B-CECA-53CB-A17688616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6102" y="3834829"/>
            <a:ext cx="488024" cy="488024"/>
          </a:xfrm>
          <a:prstGeom prst="rect">
            <a:avLst/>
          </a:prstGeom>
        </p:spPr>
      </p:pic>
      <p:pic>
        <p:nvPicPr>
          <p:cNvPr id="6" name="Graphic 5" descr="Bullseye outline">
            <a:extLst>
              <a:ext uri="{FF2B5EF4-FFF2-40B4-BE49-F238E27FC236}">
                <a16:creationId xmlns:a16="http://schemas.microsoft.com/office/drawing/2014/main" id="{8D880600-6CB6-461F-2AA9-75C0601731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6376" y="1191949"/>
            <a:ext cx="508571" cy="508571"/>
          </a:xfrm>
          <a:prstGeom prst="rect">
            <a:avLst/>
          </a:prstGeom>
        </p:spPr>
      </p:pic>
      <p:pic>
        <p:nvPicPr>
          <p:cNvPr id="8" name="Graphic 7" descr="Shield Tick outline">
            <a:extLst>
              <a:ext uri="{FF2B5EF4-FFF2-40B4-BE49-F238E27FC236}">
                <a16:creationId xmlns:a16="http://schemas.microsoft.com/office/drawing/2014/main" id="{928BDEB3-2AB7-EBD0-076C-EBB33EBA99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0964" y="6972821"/>
            <a:ext cx="559942" cy="559942"/>
          </a:xfrm>
          <a:prstGeom prst="rect">
            <a:avLst/>
          </a:prstGeom>
        </p:spPr>
      </p:pic>
      <p:pic>
        <p:nvPicPr>
          <p:cNvPr id="10" name="Graphic 9" descr="Bar graph with upward trend outline">
            <a:extLst>
              <a:ext uri="{FF2B5EF4-FFF2-40B4-BE49-F238E27FC236}">
                <a16:creationId xmlns:a16="http://schemas.microsoft.com/office/drawing/2014/main" id="{F9FEFDC4-595B-B8CA-5D4A-7DFF552E60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1004" y="6131746"/>
            <a:ext cx="563944" cy="563944"/>
          </a:xfrm>
          <a:prstGeom prst="rect">
            <a:avLst/>
          </a:prstGeom>
        </p:spPr>
      </p:pic>
      <p:pic>
        <p:nvPicPr>
          <p:cNvPr id="14" name="Graphic 13" descr="Scales of justice outline">
            <a:extLst>
              <a:ext uri="{FF2B5EF4-FFF2-40B4-BE49-F238E27FC236}">
                <a16:creationId xmlns:a16="http://schemas.microsoft.com/office/drawing/2014/main" id="{E59972A3-BE57-7DFD-F89B-35BB0313686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9198" y="5348257"/>
            <a:ext cx="535202" cy="535202"/>
          </a:xfrm>
          <a:prstGeom prst="rect">
            <a:avLst/>
          </a:prstGeom>
        </p:spPr>
      </p:pic>
      <p:pic>
        <p:nvPicPr>
          <p:cNvPr id="16" name="Graphic 15" descr="Database outline">
            <a:extLst>
              <a:ext uri="{FF2B5EF4-FFF2-40B4-BE49-F238E27FC236}">
                <a16:creationId xmlns:a16="http://schemas.microsoft.com/office/drawing/2014/main" id="{C12D88A5-C036-0E31-3A4F-F1C74FBB7D3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4732" y="2129958"/>
            <a:ext cx="619167" cy="619167"/>
          </a:xfrm>
          <a:prstGeom prst="rect">
            <a:avLst/>
          </a:prstGeom>
        </p:spPr>
      </p:pic>
      <p:pic>
        <p:nvPicPr>
          <p:cNvPr id="18" name="Graphic 17" descr="Stopwatch outline">
            <a:extLst>
              <a:ext uri="{FF2B5EF4-FFF2-40B4-BE49-F238E27FC236}">
                <a16:creationId xmlns:a16="http://schemas.microsoft.com/office/drawing/2014/main" id="{06CA0CA7-31A2-95D6-F237-16E0FF0787A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71004" y="3096920"/>
            <a:ext cx="563795" cy="563795"/>
          </a:xfrm>
          <a:prstGeom prst="rect">
            <a:avLst/>
          </a:prstGeom>
        </p:spPr>
      </p:pic>
      <p:pic>
        <p:nvPicPr>
          <p:cNvPr id="20" name="Graphic 19" descr="Snowflake outline">
            <a:extLst>
              <a:ext uri="{FF2B5EF4-FFF2-40B4-BE49-F238E27FC236}">
                <a16:creationId xmlns:a16="http://schemas.microsoft.com/office/drawing/2014/main" id="{9A3B90D0-61C3-E156-F6DD-6E2D7A7E2B8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6301" y="4579542"/>
            <a:ext cx="619167" cy="61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743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28" y="119479"/>
            <a:ext cx="1417201" cy="317421"/>
          </a:xfrm>
          <a:prstGeom prst="roundRect">
            <a:avLst>
              <a:gd name="adj" fmla="val 38304"/>
            </a:avLst>
          </a:prstGeom>
          <a:solidFill>
            <a:srgbClr val="DDEEE0"/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9" name="Shape 5"/>
          <p:cNvSpPr/>
          <p:nvPr/>
        </p:nvSpPr>
        <p:spPr>
          <a:xfrm>
            <a:off x="1296582" y="6362505"/>
            <a:ext cx="11010236" cy="1643216"/>
          </a:xfrm>
          <a:prstGeom prst="roundRect">
            <a:avLst>
              <a:gd name="adj" fmla="val 1028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10" name="Shape 6"/>
          <p:cNvSpPr/>
          <p:nvPr/>
        </p:nvSpPr>
        <p:spPr>
          <a:xfrm>
            <a:off x="1486172" y="6480649"/>
            <a:ext cx="10813025" cy="54209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1" name="Text 7"/>
          <p:cNvSpPr/>
          <p:nvPr/>
        </p:nvSpPr>
        <p:spPr>
          <a:xfrm>
            <a:off x="1770276" y="6613755"/>
            <a:ext cx="2357065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Dataset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447915" y="661375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Zero-Shot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1039" y="661375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Few-Shot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8714162" y="661375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Fine-Tuned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0854602" y="6613755"/>
            <a:ext cx="1275764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Gain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1486172" y="6968329"/>
            <a:ext cx="10813025" cy="54209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7" name="Text 13"/>
          <p:cNvSpPr/>
          <p:nvPr/>
        </p:nvSpPr>
        <p:spPr>
          <a:xfrm>
            <a:off x="1770276" y="7101435"/>
            <a:ext cx="2357065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Easy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447915" y="710143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66.5%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581039" y="710143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72.5%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714162" y="710143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ea typeface="Nobile" pitchFamily="34" charset="-122"/>
                <a:cs typeface="Nobile" pitchFamily="34" charset="-120"/>
              </a:rPr>
              <a:t>88.5%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10854602" y="7101435"/>
            <a:ext cx="1275764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+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</a:rPr>
              <a:t>16.0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%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22" name="Shape 18"/>
          <p:cNvSpPr/>
          <p:nvPr/>
        </p:nvSpPr>
        <p:spPr>
          <a:xfrm>
            <a:off x="1486172" y="7456009"/>
            <a:ext cx="10813025" cy="54209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23" name="Text 19"/>
          <p:cNvSpPr/>
          <p:nvPr/>
        </p:nvSpPr>
        <p:spPr>
          <a:xfrm>
            <a:off x="1770276" y="7589115"/>
            <a:ext cx="2357065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Hard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4447915" y="758911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76%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581039" y="758911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73%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8714162" y="758911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ea typeface="Nobile" pitchFamily="34" charset="-122"/>
                <a:cs typeface="Nobile" pitchFamily="34" charset="-120"/>
              </a:rPr>
              <a:t>95.5%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10854602" y="7589115"/>
            <a:ext cx="1275764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+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</a:rPr>
              <a:t>19.5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%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7C77E6-2AAE-4906-8B42-46673EA9A22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170" t="261" r="3419" b="24361"/>
          <a:stretch/>
        </p:blipFill>
        <p:spPr>
          <a:xfrm>
            <a:off x="0" y="20253"/>
            <a:ext cx="14501976" cy="63422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486733" y="1156335"/>
            <a:ext cx="5066348" cy="345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8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Severity Classification Performance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233" y="1778198"/>
            <a:ext cx="9761696" cy="413075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6733" y="6116241"/>
            <a:ext cx="11656814" cy="1608296"/>
          </a:xfrm>
          <a:prstGeom prst="roundRect">
            <a:avLst>
              <a:gd name="adj" fmla="val 10313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6" name="Shape 3"/>
          <p:cNvSpPr/>
          <p:nvPr/>
        </p:nvSpPr>
        <p:spPr>
          <a:xfrm>
            <a:off x="1494353" y="6123861"/>
            <a:ext cx="11641574" cy="5310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7" name="Text 4"/>
          <p:cNvSpPr/>
          <p:nvPr/>
        </p:nvSpPr>
        <p:spPr>
          <a:xfrm>
            <a:off x="1678781" y="6241971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Dataset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010858" y="6241971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Baseline Acc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339126" y="6241971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Fine-Tuned Acc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667393" y="6241971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Baseline F1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10995660" y="6241971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Fine-Tuned F1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1494353" y="6654879"/>
            <a:ext cx="11641574" cy="5310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3" name="Text 10"/>
          <p:cNvSpPr/>
          <p:nvPr/>
        </p:nvSpPr>
        <p:spPr>
          <a:xfrm>
            <a:off x="1678781" y="6772989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Easy</a:t>
            </a: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010858" y="6772989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67.5%</a:t>
            </a: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339126" y="6772989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79%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667393" y="6772989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0.6708</a:t>
            </a: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10995660" y="6772989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0.7783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1494353" y="7185898"/>
            <a:ext cx="11641574" cy="5310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9" name="Text 16"/>
          <p:cNvSpPr/>
          <p:nvPr/>
        </p:nvSpPr>
        <p:spPr>
          <a:xfrm>
            <a:off x="1678781" y="7304008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Hard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4010858" y="7304008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67.5%</a:t>
            </a: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39126" y="7304008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75.5%</a:t>
            </a: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8667393" y="7304008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0.6475</a:t>
            </a: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10995660" y="7304008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0.7303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1260" y="2308860"/>
            <a:ext cx="3611880" cy="36118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04599" y="1019889"/>
            <a:ext cx="1099304" cy="339923"/>
          </a:xfrm>
          <a:prstGeom prst="roundRect">
            <a:avLst>
              <a:gd name="adj" fmla="val 36593"/>
            </a:avLst>
          </a:prstGeom>
          <a:noFill/>
          <a:ln w="7620">
            <a:solidFill>
              <a:srgbClr val="438951"/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5804" y="1120735"/>
            <a:ext cx="138113" cy="13811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922972" y="1079302"/>
            <a:ext cx="669727" cy="221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00" dirty="0">
                <a:solidFill>
                  <a:srgbClr val="438951"/>
                </a:solidFill>
                <a:ea typeface="Nobile" pitchFamily="34" charset="-122"/>
                <a:cs typeface="Nobile" pitchFamily="34" charset="-120"/>
              </a:rPr>
              <a:t>INSIGHTS</a:t>
            </a:r>
            <a:endParaRPr lang="en-US" sz="1200" dirty="0"/>
          </a:p>
        </p:txBody>
      </p:sp>
      <p:sp>
        <p:nvSpPr>
          <p:cNvPr id="7" name="Text 2"/>
          <p:cNvSpPr/>
          <p:nvPr/>
        </p:nvSpPr>
        <p:spPr>
          <a:xfrm>
            <a:off x="604599" y="1428869"/>
            <a:ext cx="7579757" cy="539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Key Learnings &amp; Future Directions</a:t>
            </a:r>
            <a:endParaRPr lang="en-US" sz="4000" dirty="0"/>
          </a:p>
        </p:txBody>
      </p:sp>
      <p:sp>
        <p:nvSpPr>
          <p:cNvPr id="8" name="Shape 3"/>
          <p:cNvSpPr/>
          <p:nvPr/>
        </p:nvSpPr>
        <p:spPr>
          <a:xfrm>
            <a:off x="604599" y="2227898"/>
            <a:ext cx="7934801" cy="1317427"/>
          </a:xfrm>
          <a:prstGeom prst="roundRect">
            <a:avLst>
              <a:gd name="adj" fmla="val 11802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9" name="Text 4"/>
          <p:cNvSpPr/>
          <p:nvPr/>
        </p:nvSpPr>
        <p:spPr>
          <a:xfrm>
            <a:off x="800219" y="2423517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Achievement</a:t>
            </a:r>
            <a:endParaRPr lang="en-US" sz="2000" dirty="0"/>
          </a:p>
        </p:txBody>
      </p:sp>
      <p:sp>
        <p:nvSpPr>
          <p:cNvPr id="10" name="Text 5"/>
          <p:cNvSpPr/>
          <p:nvPr/>
        </p:nvSpPr>
        <p:spPr>
          <a:xfrm>
            <a:off x="800219" y="2797016"/>
            <a:ext cx="7543562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Successfully trained universal model that predicts components and severity on unseen workflows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04599" y="3718084"/>
            <a:ext cx="7934801" cy="1377791"/>
          </a:xfrm>
          <a:prstGeom prst="roundRect">
            <a:avLst>
              <a:gd name="adj" fmla="val 11285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12" name="Text 7"/>
          <p:cNvSpPr/>
          <p:nvPr/>
        </p:nvSpPr>
        <p:spPr>
          <a:xfrm>
            <a:off x="800219" y="3913703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Critical Lessons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800219" y="4287203"/>
            <a:ext cx="7543562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Clear label definitions essential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800219" y="4623911"/>
            <a:ext cx="7543562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Testing on unseen data is crucial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04599" y="5354955"/>
            <a:ext cx="2591395" cy="323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8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Future Exploration</a:t>
            </a:r>
            <a:endParaRPr lang="en-US" sz="2800" dirty="0"/>
          </a:p>
        </p:txBody>
      </p:sp>
      <p:sp>
        <p:nvSpPr>
          <p:cNvPr id="16" name="Shape 11"/>
          <p:cNvSpPr/>
          <p:nvPr/>
        </p:nvSpPr>
        <p:spPr>
          <a:xfrm>
            <a:off x="604599" y="5938004"/>
            <a:ext cx="3880961" cy="1271707"/>
          </a:xfrm>
          <a:prstGeom prst="roundRect">
            <a:avLst>
              <a:gd name="adj" fmla="val 32604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7" name="Text 12"/>
          <p:cNvSpPr/>
          <p:nvPr/>
        </p:nvSpPr>
        <p:spPr>
          <a:xfrm>
            <a:off x="1465302" y="6110764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Real-World Data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777359" y="6484263"/>
            <a:ext cx="3535442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Deploy with multiple companies, collect real tickets for enhanced training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4658320" y="5938004"/>
            <a:ext cx="3881080" cy="1271707"/>
          </a:xfrm>
          <a:prstGeom prst="roundRect">
            <a:avLst>
              <a:gd name="adj" fmla="val 32604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20" name="Text 15"/>
          <p:cNvSpPr/>
          <p:nvPr/>
        </p:nvSpPr>
        <p:spPr>
          <a:xfrm>
            <a:off x="5519142" y="6110764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Active Learning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4831080" y="6484263"/>
            <a:ext cx="3535561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User corrections as supervision signals for continuous model improvement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</TotalTime>
  <Words>441</Words>
  <Application>Microsoft Office PowerPoint</Application>
  <PresentationFormat>Custom</PresentationFormat>
  <Paragraphs>126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 Display</vt:lpstr>
      <vt:lpstr>Aharoni</vt:lpstr>
      <vt:lpstr>Arial</vt:lpstr>
      <vt:lpstr>Calibri</vt:lpstr>
      <vt:lpstr>Nobile</vt:lpstr>
      <vt:lpstr>Aptos</vt:lpstr>
      <vt:lpstr>Fraunces Extra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Lior Mizrachi</cp:lastModifiedBy>
  <cp:revision>24</cp:revision>
  <dcterms:created xsi:type="dcterms:W3CDTF">2026-01-15T15:44:16Z</dcterms:created>
  <dcterms:modified xsi:type="dcterms:W3CDTF">2026-01-18T15:42:05Z</dcterms:modified>
</cp:coreProperties>
</file>