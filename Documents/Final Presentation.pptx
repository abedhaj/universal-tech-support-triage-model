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Fraunces Extra Bold" panose="020B0604020202020204" charset="0"/>
      <p:regular r:id="rId11"/>
    </p:embeddedFont>
    <p:embeddedFont>
      <p:font typeface="Nobile" panose="020B0604020202020204" charset="0"/>
      <p:regular r:id="rId12"/>
    </p:embeddedFont>
  </p:embeddedFontLst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FFEB"/>
    <a:srgbClr val="FAFF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126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3638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9C236-4D35-73E7-A6C7-C788A2DD01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5F5A5A-0775-21E1-8472-5A19D870C6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25AAF-919B-ADDE-23AF-E388C53C1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094D1-86A1-46A6-95C8-B21369F124B9}" type="datetimeFigureOut">
              <a:rPr lang="en-IL" smtClean="0"/>
              <a:t>16/01/2026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1A0F8-C414-BEBF-49FB-A5AC04F6C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81D2C-136F-8031-FBC4-C6B79AAD1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09A3A-AEE7-4B10-9438-CE0C37114A4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7952592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7CB98-E498-1B5C-EA50-18E34C541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A4479-1B71-749B-88E1-BF107C855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C96434-15ED-2A89-E911-EC140936E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094D1-86A1-46A6-95C8-B21369F124B9}" type="datetimeFigureOut">
              <a:rPr lang="en-IL" smtClean="0"/>
              <a:t>16/01/2026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A5C46-A0B9-93CE-0591-41FFD31BE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0523E-D5AA-8B97-CE97-1B2C02E4A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09A3A-AEE7-4B10-9438-CE0C37114A4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6844761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6F044-D619-FAA0-498D-8BE7CC96F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335ED-933A-872F-5C8F-FF78174A7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6C862-CEB8-93D3-E03A-4DC1DA4E4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094D1-86A1-46A6-95C8-B21369F124B9}" type="datetimeFigureOut">
              <a:rPr lang="en-IL" smtClean="0"/>
              <a:t>16/01/2026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76903-BAC5-8CF8-22F6-AAD5F5241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C3D73-4DED-1162-7816-77EBDC2B2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09A3A-AEE7-4B10-9438-CE0C37114A4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0754979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0032D-5BBE-9AD5-7A01-88C2DA766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EDD0E-F5B8-BBA4-4F2D-13F3EF950F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D38205-ADAF-C882-8499-416F0299F2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8D6493-5181-526F-90DD-4A9CEED5E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094D1-86A1-46A6-95C8-B21369F124B9}" type="datetimeFigureOut">
              <a:rPr lang="en-IL" smtClean="0"/>
              <a:t>16/01/2026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600D3-8AAE-1925-B26C-E11018C13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82BBF2-1B5A-80E0-C6FC-BAE646C66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09A3A-AEE7-4B10-9438-CE0C37114A4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3318775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D2E11-2474-93F9-3465-4A712067B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85BF8-3666-80FC-4F33-76E2FD3E1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86A151-448C-5A79-4FE7-EBB3B95359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20EFF9-EC6B-C482-7748-B7D7E8A416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479C82-F54B-8999-09F8-A25F9B7533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E09823-6F66-C9A8-4423-B9341C43A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094D1-86A1-46A6-95C8-B21369F124B9}" type="datetimeFigureOut">
              <a:rPr lang="en-IL" smtClean="0"/>
              <a:t>16/01/2026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A6A96C-35FE-8F38-D255-532D83928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7965BD-B5AA-6219-4412-37F81CCF4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09A3A-AEE7-4B10-9438-CE0C37114A4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9381882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31DBE-4B8B-ED22-68D8-A4A368318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8A55AC-EF63-702F-C4A3-1EC35EE0B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094D1-86A1-46A6-95C8-B21369F124B9}" type="datetimeFigureOut">
              <a:rPr lang="en-IL" smtClean="0"/>
              <a:t>16/01/2026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4381C0-6A39-980F-969F-4C997E75D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9C00A2-4841-04ED-BA49-B0214349A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09A3A-AEE7-4B10-9438-CE0C37114A4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3354361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4FC7EC-6BDD-F617-5AC7-F0400AAEB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094D1-86A1-46A6-95C8-B21369F124B9}" type="datetimeFigureOut">
              <a:rPr lang="en-IL" smtClean="0"/>
              <a:t>16/01/2026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78CF40-F644-0632-224E-E682FF83D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162340-56F8-58CE-4946-C10F3288D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09A3A-AEE7-4B10-9438-CE0C37114A4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7052206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526F4-EB60-64D8-61BF-18430E19B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72608-B19E-B4D8-B397-2635957A7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80A783-403F-2090-FDB2-EC0564021E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261CF8-4D9A-0B0A-DA9C-959A5B2B4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094D1-86A1-46A6-95C8-B21369F124B9}" type="datetimeFigureOut">
              <a:rPr lang="en-IL" smtClean="0"/>
              <a:t>16/01/2026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56F5CE-2AF8-1D83-4E83-1569D92C6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A6B0BB-9405-BAE8-BA22-72E103A4A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09A3A-AEE7-4B10-9438-CE0C37114A4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3544806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FE03C-2906-EE31-C31E-C3BBBEE7F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4598D3-524A-90F4-3D51-8E882F9E9D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2DDF50-3FA9-BEFB-0C01-8F0D6B44C2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4CD759-7545-13C5-3A00-AE14B0683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094D1-86A1-46A6-95C8-B21369F124B9}" type="datetimeFigureOut">
              <a:rPr lang="en-IL" smtClean="0"/>
              <a:t>16/01/2026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2BD4EC-51A3-E029-23CC-C6792ACBA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ABA460-06F6-728E-B0E3-8D857B139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09A3A-AEE7-4B10-9438-CE0C37114A4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0203673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5E0CA-C7BB-BD13-D78F-0C14EBE76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5CFFB3-73D3-563B-F67F-2EC47648BC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445E4-A39A-B95F-7208-E762E731B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094D1-86A1-46A6-95C8-B21369F124B9}" type="datetimeFigureOut">
              <a:rPr lang="en-IL" smtClean="0"/>
              <a:t>16/01/2026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40474-0E0C-C869-5C72-3A5192A26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A8FF1-47E9-FCE8-0AAB-B14BEF284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09A3A-AEE7-4B10-9438-CE0C37114A4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9757657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6BEF5-C383-5842-B53C-C33016BACB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D053B2-5352-3E88-5C17-70486649FE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0B9C90-0963-BE6A-7073-A3945F81C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094D1-86A1-46A6-95C8-B21369F124B9}" type="datetimeFigureOut">
              <a:rPr lang="en-IL" smtClean="0"/>
              <a:t>16/01/2026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2E09B-AD32-0063-67CE-4BCA8E3B7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9CC7B-9308-4B11-B913-76815C19A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09A3A-AEE7-4B10-9438-CE0C37114A4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4911215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10977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6897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15850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23428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78789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0598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36489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8196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FEB">
            <a:alpha val="6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A9F125-72D3-5D22-13DA-B727EF3B6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7C19B-B4CE-025C-4286-2C1DEBBB4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C6D0B-555A-4400-DC60-054ECB4119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4094D1-86A1-46A6-95C8-B21369F124B9}" type="datetimeFigureOut">
              <a:rPr lang="en-IL" smtClean="0"/>
              <a:t>16/01/2026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9F669-952D-8D23-DC8A-95E0755153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73722B-C621-0137-199E-81835261CB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009A3A-AEE7-4B10-9438-CE0C37114A4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32563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736646" y="235577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Aptos" panose="020B0004020202020204" pitchFamily="34" charset="0"/>
                <a:ea typeface="Fraunces Extra Bold" pitchFamily="34" charset="-122"/>
                <a:cs typeface="Aharoni" panose="02010803020104030203" pitchFamily="2" charset="-79"/>
              </a:rPr>
              <a:t>UTM</a:t>
            </a:r>
            <a:endParaRPr lang="en-US" sz="4450" dirty="0">
              <a:latin typeface="Aptos" panose="020B0004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3404711"/>
            <a:ext cx="75564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EB0303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Universal</a:t>
            </a:r>
            <a:r>
              <a:rPr lang="en-US" sz="2200" dirty="0">
                <a:solidFill>
                  <a:srgbClr val="4A644E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sz="2200" dirty="0">
                <a:solidFill>
                  <a:srgbClr val="E68507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Triage</a:t>
            </a:r>
            <a:r>
              <a:rPr lang="en-US" sz="2200" dirty="0">
                <a:solidFill>
                  <a:srgbClr val="4A644E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sz="2200" dirty="0">
                <a:solidFill>
                  <a:srgbClr val="65BE03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Model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11337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universal approach for supporting industrial workflows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3154323" y="48928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3B4540"/>
                </a:solidFill>
                <a:latin typeface="Aptos" panose="020B0004020202020204" pitchFamily="34" charset="0"/>
                <a:ea typeface="Fraunces Extra Bold" pitchFamily="34" charset="-122"/>
                <a:cs typeface="Aharoni" panose="02010803020104030203" pitchFamily="2" charset="-79"/>
              </a:rPr>
              <a:t>Team</a:t>
            </a: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: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551092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Abed Haj Yahia, Amit Hazan, Lior Mizrachi</a:t>
            </a:r>
            <a:endParaRPr lang="en-US" sz="17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8B9D605-5D92-D0E6-4E82-AD5D26DA4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2859" y="1003886"/>
            <a:ext cx="6130413" cy="60147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8625" y="516136"/>
            <a:ext cx="2172891" cy="367784"/>
          </a:xfrm>
          <a:prstGeom prst="roundRect">
            <a:avLst>
              <a:gd name="adj" fmla="val 36749"/>
            </a:avLst>
          </a:prstGeom>
          <a:noFill/>
          <a:ln w="7620">
            <a:solidFill>
              <a:srgbClr val="438951"/>
            </a:solidFill>
            <a:prstDash val="solid"/>
          </a:ln>
        </p:spPr>
        <p:txBody>
          <a:bodyPr/>
          <a:lstStyle/>
          <a:p>
            <a:endParaRPr lang="en-IL" sz="20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8759" y="624959"/>
            <a:ext cx="150138" cy="1501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23906" y="579953"/>
            <a:ext cx="1707475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00" dirty="0">
                <a:solidFill>
                  <a:srgbClr val="438951"/>
                </a:solidFill>
                <a:ea typeface="Nobile" pitchFamily="34" charset="-122"/>
                <a:cs typeface="Nobile" pitchFamily="34" charset="-120"/>
              </a:rPr>
              <a:t>TECHNICAL APPROACH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8625" y="958929"/>
            <a:ext cx="4692968" cy="586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3B4540"/>
                </a:solidFill>
                <a:ea typeface="Fraunces Extra Bold" pitchFamily="34" charset="-122"/>
                <a:cs typeface="Fraunces Extra Bold" pitchFamily="34" charset="-120"/>
              </a:rPr>
              <a:t>Model Architecture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378625" y="1620560"/>
            <a:ext cx="2346484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3B4540"/>
                </a:solidFill>
                <a:ea typeface="Fraunces Extra Bold" pitchFamily="34" charset="-122"/>
                <a:cs typeface="Fraunces Extra Bold" pitchFamily="34" charset="-120"/>
              </a:rPr>
              <a:t>Model Pipeline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378625" y="2195274"/>
            <a:ext cx="11873151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GPT-3.5 for data generation, Llama 3.2 baseline, RoBERTa fine-tuning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519357" y="2706767"/>
            <a:ext cx="22860" cy="3380542"/>
          </a:xfrm>
          <a:prstGeom prst="roundRect">
            <a:avLst>
              <a:gd name="adj" fmla="val 739052"/>
            </a:avLst>
          </a:prstGeom>
          <a:solidFill>
            <a:srgbClr val="CED9CE"/>
          </a:solidFill>
          <a:ln/>
        </p:spPr>
        <p:txBody>
          <a:bodyPr/>
          <a:lstStyle/>
          <a:p>
            <a:endParaRPr lang="en-IL" sz="2000"/>
          </a:p>
        </p:txBody>
      </p:sp>
      <p:sp>
        <p:nvSpPr>
          <p:cNvPr id="9" name="Shape 6"/>
          <p:cNvSpPr/>
          <p:nvPr/>
        </p:nvSpPr>
        <p:spPr>
          <a:xfrm>
            <a:off x="1496497" y="2906435"/>
            <a:ext cx="375404" cy="22860"/>
          </a:xfrm>
          <a:prstGeom prst="roundRect">
            <a:avLst>
              <a:gd name="adj" fmla="val 739052"/>
            </a:avLst>
          </a:prstGeom>
          <a:solidFill>
            <a:srgbClr val="CED9CE"/>
          </a:solidFill>
          <a:ln/>
        </p:spPr>
        <p:txBody>
          <a:bodyPr/>
          <a:lstStyle/>
          <a:p>
            <a:endParaRPr lang="en-IL" sz="2000"/>
          </a:p>
        </p:txBody>
      </p:sp>
      <p:sp>
        <p:nvSpPr>
          <p:cNvPr id="10" name="Shape 7"/>
          <p:cNvSpPr/>
          <p:nvPr/>
        </p:nvSpPr>
        <p:spPr>
          <a:xfrm>
            <a:off x="1448991" y="2847499"/>
            <a:ext cx="140732" cy="140732"/>
          </a:xfrm>
          <a:prstGeom prst="roundRect">
            <a:avLst>
              <a:gd name="adj" fmla="val 324873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en-IL" sz="2000"/>
          </a:p>
        </p:txBody>
      </p:sp>
      <p:sp>
        <p:nvSpPr>
          <p:cNvPr id="11" name="Text 8"/>
          <p:cNvSpPr/>
          <p:nvPr/>
        </p:nvSpPr>
        <p:spPr>
          <a:xfrm>
            <a:off x="2270284" y="2771180"/>
            <a:ext cx="2346484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ea typeface="Fraunces Extra Bold" pitchFamily="34" charset="-122"/>
                <a:cs typeface="Fraunces Extra Bold" pitchFamily="34" charset="-120"/>
              </a:rPr>
              <a:t>Input Processing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2270284" y="3176945"/>
            <a:ext cx="10981492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Company background (industry, enterprise information system)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270284" y="3542943"/>
            <a:ext cx="10981492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Workflow description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270284" y="3908941"/>
            <a:ext cx="10981492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Components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270284" y="4274939"/>
            <a:ext cx="10981492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User report ticket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496497" y="5150406"/>
            <a:ext cx="375404" cy="22860"/>
          </a:xfrm>
          <a:prstGeom prst="roundRect">
            <a:avLst>
              <a:gd name="adj" fmla="val 739052"/>
            </a:avLst>
          </a:prstGeom>
          <a:solidFill>
            <a:srgbClr val="CED9CE"/>
          </a:solidFill>
          <a:ln/>
        </p:spPr>
        <p:txBody>
          <a:bodyPr/>
          <a:lstStyle/>
          <a:p>
            <a:endParaRPr lang="en-IL" sz="2000"/>
          </a:p>
        </p:txBody>
      </p:sp>
      <p:sp>
        <p:nvSpPr>
          <p:cNvPr id="17" name="Shape 14"/>
          <p:cNvSpPr/>
          <p:nvPr/>
        </p:nvSpPr>
        <p:spPr>
          <a:xfrm>
            <a:off x="1448991" y="5091470"/>
            <a:ext cx="140732" cy="140732"/>
          </a:xfrm>
          <a:prstGeom prst="roundRect">
            <a:avLst>
              <a:gd name="adj" fmla="val 324873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en-IL" sz="2000"/>
          </a:p>
        </p:txBody>
      </p:sp>
      <p:sp>
        <p:nvSpPr>
          <p:cNvPr id="18" name="Text 15"/>
          <p:cNvSpPr/>
          <p:nvPr/>
        </p:nvSpPr>
        <p:spPr>
          <a:xfrm>
            <a:off x="2270284" y="5015151"/>
            <a:ext cx="2346484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ea typeface="Fraunces Extra Bold" pitchFamily="34" charset="-122"/>
                <a:cs typeface="Fraunces Extra Bold" pitchFamily="34" charset="-120"/>
              </a:rPr>
              <a:t>Output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2270284" y="5420916"/>
            <a:ext cx="10981492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Affected component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2270284" y="5786914"/>
            <a:ext cx="10981492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Severity level (Medium, High, Critical)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378625" y="6392247"/>
            <a:ext cx="11873151" cy="31075"/>
          </a:xfrm>
          <a:prstGeom prst="rect">
            <a:avLst/>
          </a:prstGeom>
          <a:solidFill>
            <a:srgbClr val="405449">
              <a:alpha val="50000"/>
            </a:srgbClr>
          </a:solidFill>
          <a:ln/>
        </p:spPr>
        <p:txBody>
          <a:bodyPr/>
          <a:lstStyle/>
          <a:p>
            <a:endParaRPr lang="en-IL" sz="2000"/>
          </a:p>
        </p:txBody>
      </p:sp>
      <p:sp>
        <p:nvSpPr>
          <p:cNvPr id="22" name="Shape 19"/>
          <p:cNvSpPr/>
          <p:nvPr/>
        </p:nvSpPr>
        <p:spPr>
          <a:xfrm>
            <a:off x="1378625" y="6634401"/>
            <a:ext cx="5842754" cy="1081445"/>
          </a:xfrm>
          <a:prstGeom prst="roundRect">
            <a:avLst>
              <a:gd name="adj" fmla="val 15622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IL" sz="2000"/>
          </a:p>
        </p:txBody>
      </p:sp>
      <p:sp>
        <p:nvSpPr>
          <p:cNvPr id="23" name="Text 20"/>
          <p:cNvSpPr/>
          <p:nvPr/>
        </p:nvSpPr>
        <p:spPr>
          <a:xfrm>
            <a:off x="1566267" y="6822043"/>
            <a:ext cx="2346484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ea typeface="Fraunces Extra Bold" pitchFamily="34" charset="-122"/>
                <a:cs typeface="Fraunces Extra Bold" pitchFamily="34" charset="-120"/>
              </a:rPr>
              <a:t>Component Metrics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1566267" y="7227808"/>
            <a:ext cx="5467469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Accuracy, Top-k ranking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409021" y="6634401"/>
            <a:ext cx="5842754" cy="1081445"/>
          </a:xfrm>
          <a:prstGeom prst="roundRect">
            <a:avLst>
              <a:gd name="adj" fmla="val 15622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IL" sz="2000"/>
          </a:p>
        </p:txBody>
      </p:sp>
      <p:sp>
        <p:nvSpPr>
          <p:cNvPr id="26" name="Text 23"/>
          <p:cNvSpPr/>
          <p:nvPr/>
        </p:nvSpPr>
        <p:spPr>
          <a:xfrm>
            <a:off x="7596664" y="6822043"/>
            <a:ext cx="2346484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ea typeface="Fraunces Extra Bold" pitchFamily="34" charset="-122"/>
                <a:cs typeface="Fraunces Extra Bold" pitchFamily="34" charset="-120"/>
              </a:rPr>
              <a:t>Severity Metrics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7596664" y="7227808"/>
            <a:ext cx="5467469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F1 Score (macro), Accuracy, Weighted F1</a:t>
            </a:r>
            <a:endParaRPr lang="en-US" sz="16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C5B3116F-545F-6DA7-1339-A916F5919E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9021" y="3047828"/>
            <a:ext cx="6707661" cy="36617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1183" y="741283"/>
            <a:ext cx="12847915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5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28536D-DFB0-FA18-5964-C5B35636D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613" y="565594"/>
            <a:ext cx="13003174" cy="70984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1674852"/>
            <a:ext cx="2306955" cy="426244"/>
          </a:xfrm>
          <a:prstGeom prst="roundRect">
            <a:avLst>
              <a:gd name="adj" fmla="val 38315"/>
            </a:avLst>
          </a:prstGeom>
          <a:solidFill>
            <a:srgbClr val="DDEEE0"/>
          </a:solidFill>
          <a:ln/>
        </p:spPr>
        <p:txBody>
          <a:bodyPr/>
          <a:lstStyle/>
          <a:p>
            <a:endParaRPr lang="en-IL" sz="200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9878" y="1797248"/>
            <a:ext cx="181451" cy="18145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02055" y="1742837"/>
            <a:ext cx="176260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793790" y="219182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800" b="1" dirty="0">
                <a:solidFill>
                  <a:srgbClr val="3B4540"/>
                </a:solidFill>
                <a:latin typeface="Aptos" panose="020B0004020202020204" pitchFamily="34" charset="0"/>
                <a:ea typeface="Fraunces Extra Bold" pitchFamily="34" charset="-122"/>
                <a:cs typeface="Fraunces Extra Bold" pitchFamily="34" charset="-120"/>
              </a:rPr>
              <a:t>Problem &amp; Solution</a:t>
            </a:r>
            <a:endParaRPr lang="en-US" sz="4800" dirty="0">
              <a:latin typeface="Aptos" panose="020B000402020202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793790" y="34675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3B4540"/>
                </a:solidFill>
                <a:latin typeface="Aptos" panose="020B0004020202020204" pitchFamily="34" charset="0"/>
                <a:ea typeface="Fraunces Extra Bold" pitchFamily="34" charset="-122"/>
                <a:cs typeface="Fraunces Extra Bold" pitchFamily="34" charset="-120"/>
              </a:rPr>
              <a:t>Current Challenge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793790" y="4048720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Manual ticket classification is costly and time-consuming</a:t>
            </a: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793790" y="4978598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High operational costs</a:t>
            </a: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793790" y="5420797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Slow response times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793790" y="5862995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850"/>
              </a:lnSpc>
              <a:buSzPct val="100000"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4856321" y="34675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3B4540"/>
                </a:solidFill>
                <a:latin typeface="Aptos" panose="020B0004020202020204" pitchFamily="34" charset="0"/>
                <a:ea typeface="Fraunces Extra Bold" pitchFamily="34" charset="-122"/>
                <a:cs typeface="Fraunces Extra Bold" pitchFamily="34" charset="-120"/>
              </a:rPr>
              <a:t>Our Innovation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856321" y="4048720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Universal AI model adaptable across varied software systems</a:t>
            </a: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856321" y="4978598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Automated classification</a:t>
            </a: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4856321" y="5420797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Multi-company deployment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4856321" y="5987772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67639" y="456724"/>
            <a:ext cx="1922859" cy="327184"/>
          </a:xfrm>
          <a:prstGeom prst="roundRect">
            <a:avLst>
              <a:gd name="adj" fmla="val 36515"/>
            </a:avLst>
          </a:prstGeom>
          <a:noFill/>
          <a:ln w="7620">
            <a:solidFill>
              <a:srgbClr val="43895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74796" y="553998"/>
            <a:ext cx="132636" cy="1326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73749" y="514112"/>
            <a:ext cx="1509593" cy="212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438951"/>
                </a:solidFill>
                <a:ea typeface="Nobile" pitchFamily="34" charset="-122"/>
                <a:cs typeface="Nobile" pitchFamily="34" charset="-120"/>
              </a:rPr>
              <a:t>TECHNICAL APPROACH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2067639" y="850225"/>
            <a:ext cx="7582733" cy="518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4000" b="1" dirty="0">
                <a:solidFill>
                  <a:srgbClr val="3B4540"/>
                </a:solidFill>
                <a:latin typeface="Aptos" panose="020B0004020202020204" pitchFamily="34" charset="0"/>
                <a:ea typeface="Fraunces Extra Bold" pitchFamily="34" charset="-122"/>
                <a:cs typeface="Fraunces Extra Bold" pitchFamily="34" charset="-120"/>
              </a:rPr>
              <a:t>Model Development &amp; Data Strategy</a:t>
            </a:r>
            <a:endParaRPr lang="en-US" sz="4000" dirty="0">
              <a:latin typeface="Aptos" panose="020B0004020202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044779" y="1814632"/>
            <a:ext cx="5164574" cy="1764863"/>
          </a:xfrm>
          <a:prstGeom prst="roundRect">
            <a:avLst>
              <a:gd name="adj" fmla="val 8462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hape 5"/>
          <p:cNvSpPr/>
          <p:nvPr/>
        </p:nvSpPr>
        <p:spPr>
          <a:xfrm>
            <a:off x="2067639" y="1837492"/>
            <a:ext cx="5118854" cy="497681"/>
          </a:xfrm>
          <a:prstGeom prst="roundRect">
            <a:avLst>
              <a:gd name="adj" fmla="val 24495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9" name="Text 6"/>
          <p:cNvSpPr/>
          <p:nvPr/>
        </p:nvSpPr>
        <p:spPr>
          <a:xfrm>
            <a:off x="2218254" y="1956731"/>
            <a:ext cx="2074069" cy="259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Aptos" panose="020B0004020202020204" pitchFamily="34" charset="0"/>
                <a:ea typeface="Fraunces Extra Bold" pitchFamily="34" charset="-122"/>
                <a:cs typeface="Fraunces Extra Bold" pitchFamily="34" charset="-120"/>
              </a:rPr>
              <a:t>Data Generation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233493" y="2454412"/>
            <a:ext cx="4787146" cy="531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405449"/>
                </a:solidFill>
                <a:ea typeface="Calibri" panose="020F0502020204030204" pitchFamily="34" charset="0"/>
                <a:cs typeface="Arial" panose="020B0604020202020204" pitchFamily="34" charset="0"/>
              </a:rPr>
              <a:t>~2220 training examples, ~400 test examples</a:t>
            </a:r>
            <a:endParaRPr lang="en-US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375207" y="1814632"/>
            <a:ext cx="5164574" cy="1764863"/>
          </a:xfrm>
          <a:prstGeom prst="roundRect">
            <a:avLst>
              <a:gd name="adj" fmla="val 8462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Shape 9"/>
          <p:cNvSpPr/>
          <p:nvPr/>
        </p:nvSpPr>
        <p:spPr>
          <a:xfrm>
            <a:off x="7398068" y="1837492"/>
            <a:ext cx="5118854" cy="497681"/>
          </a:xfrm>
          <a:prstGeom prst="roundRect">
            <a:avLst>
              <a:gd name="adj" fmla="val 24495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3" name="Text 10"/>
          <p:cNvSpPr/>
          <p:nvPr/>
        </p:nvSpPr>
        <p:spPr>
          <a:xfrm>
            <a:off x="7553442" y="1956732"/>
            <a:ext cx="2074069" cy="259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Aptos" panose="020B0004020202020204" pitchFamily="34" charset="0"/>
                <a:ea typeface="Fraunces Extra Bold" pitchFamily="34" charset="-122"/>
                <a:cs typeface="Fraunces Extra Bold" pitchFamily="34" charset="-120"/>
              </a:rPr>
              <a:t>Baseline Models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553442" y="2511406"/>
            <a:ext cx="4787146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405449"/>
                </a:solidFill>
                <a:ea typeface="Calibri" panose="020F0502020204030204" pitchFamily="34" charset="0"/>
                <a:cs typeface="Arial" panose="020B0604020202020204" pitchFamily="34" charset="0"/>
              </a:rPr>
              <a:t>Llama 3.2 for zero-shot and few-shot testing</a:t>
            </a:r>
            <a:endParaRPr lang="en-US" sz="16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2044779" y="3745349"/>
            <a:ext cx="5164574" cy="3506986"/>
          </a:xfrm>
          <a:prstGeom prst="roundRect">
            <a:avLst>
              <a:gd name="adj" fmla="val 4258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en-IL" dirty="0"/>
          </a:p>
        </p:txBody>
      </p:sp>
      <p:sp>
        <p:nvSpPr>
          <p:cNvPr id="16" name="Shape 13"/>
          <p:cNvSpPr/>
          <p:nvPr/>
        </p:nvSpPr>
        <p:spPr>
          <a:xfrm>
            <a:off x="2067639" y="3768209"/>
            <a:ext cx="5118854" cy="497681"/>
          </a:xfrm>
          <a:prstGeom prst="roundRect">
            <a:avLst>
              <a:gd name="adj" fmla="val 24495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7" name="Text 14"/>
          <p:cNvSpPr/>
          <p:nvPr/>
        </p:nvSpPr>
        <p:spPr>
          <a:xfrm>
            <a:off x="2222929" y="3867745"/>
            <a:ext cx="2074069" cy="259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Aptos" panose="020B0004020202020204" pitchFamily="34" charset="0"/>
                <a:ea typeface="Fraunces Extra Bold" pitchFamily="34" charset="-122"/>
                <a:cs typeface="Fraunces Extra Bold" pitchFamily="34" charset="-120"/>
              </a:rPr>
              <a:t>Fine-Tuned Models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2233493" y="4455996"/>
            <a:ext cx="4787146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u="sng" dirty="0">
                <a:solidFill>
                  <a:srgbClr val="405449"/>
                </a:solidFill>
                <a:ea typeface="Calibri" panose="020F0502020204030204" pitchFamily="34" charset="0"/>
                <a:cs typeface="Arial" panose="020B0604020202020204" pitchFamily="34" charset="0"/>
              </a:rPr>
              <a:t>Component Classification</a:t>
            </a:r>
            <a:endParaRPr lang="en-US" sz="16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2233493" y="4821042"/>
            <a:ext cx="4787146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ea typeface="Calibri" panose="020F0502020204030204" pitchFamily="34" charset="0"/>
                <a:cs typeface="Arial" panose="020B0604020202020204" pitchFamily="34" charset="0"/>
              </a:rPr>
              <a:t>Binary relevance classifier &amp; ranking model</a:t>
            </a:r>
            <a:endParaRPr lang="en-US" sz="16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2233493" y="5144534"/>
            <a:ext cx="4787146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ea typeface="Calibri" panose="020F0502020204030204" pitchFamily="34" charset="0"/>
                <a:cs typeface="Arial" panose="020B0604020202020204" pitchFamily="34" charset="0"/>
              </a:rPr>
              <a:t>Metrics: F1, Accuracy, Recall, Precision</a:t>
            </a:r>
            <a:endParaRPr lang="en-US" sz="16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2233493" y="5702975"/>
            <a:ext cx="4787146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u="sng" dirty="0">
                <a:solidFill>
                  <a:srgbClr val="405449"/>
                </a:solidFill>
                <a:ea typeface="Calibri" panose="020F0502020204030204" pitchFamily="34" charset="0"/>
                <a:cs typeface="Arial" panose="020B0604020202020204" pitchFamily="34" charset="0"/>
              </a:rPr>
              <a:t>Severity Classification</a:t>
            </a:r>
            <a:endParaRPr lang="en-US" sz="16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2233493" y="6068021"/>
            <a:ext cx="4787146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ea typeface="Calibri" panose="020F0502020204030204" pitchFamily="34" charset="0"/>
                <a:cs typeface="Arial" panose="020B0604020202020204" pitchFamily="34" charset="0"/>
              </a:rPr>
              <a:t>RoBERTa-base for Critical/High/Medium</a:t>
            </a:r>
            <a:endParaRPr lang="en-US" sz="16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2233493" y="6391513"/>
            <a:ext cx="4787146" cy="531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ea typeface="Calibri" panose="020F0502020204030204" pitchFamily="34" charset="0"/>
                <a:cs typeface="Arial" panose="020B0604020202020204" pitchFamily="34" charset="0"/>
              </a:rPr>
              <a:t>Metrics: F1 (macro &amp; weighted), Accuracy, Recall, Precision</a:t>
            </a:r>
            <a:endParaRPr lang="en-US" sz="16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7375207" y="3745349"/>
            <a:ext cx="5164574" cy="3506986"/>
          </a:xfrm>
          <a:prstGeom prst="roundRect">
            <a:avLst>
              <a:gd name="adj" fmla="val 4258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Shape 22"/>
          <p:cNvSpPr/>
          <p:nvPr/>
        </p:nvSpPr>
        <p:spPr>
          <a:xfrm>
            <a:off x="7398068" y="3768209"/>
            <a:ext cx="5118854" cy="497681"/>
          </a:xfrm>
          <a:prstGeom prst="roundRect">
            <a:avLst>
              <a:gd name="adj" fmla="val 24495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6" name="Text 23"/>
          <p:cNvSpPr/>
          <p:nvPr/>
        </p:nvSpPr>
        <p:spPr>
          <a:xfrm>
            <a:off x="7553443" y="3887449"/>
            <a:ext cx="2074069" cy="259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Aptos" panose="020B0004020202020204" pitchFamily="34" charset="0"/>
                <a:ea typeface="Fraunces Extra Bold" pitchFamily="34" charset="-122"/>
                <a:cs typeface="Fraunces Extra Bold" pitchFamily="34" charset="-120"/>
              </a:rPr>
              <a:t>Refinement Efforts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7563922" y="4483715"/>
            <a:ext cx="4787146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ea typeface="Calibri" panose="020F0502020204030204" pitchFamily="34" charset="0"/>
                <a:cs typeface="Arial" panose="020B0604020202020204" pitchFamily="34" charset="0"/>
              </a:rPr>
              <a:t>Increase data diversity &amp; quantity</a:t>
            </a:r>
            <a:endParaRPr lang="en-US" sz="16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7563922" y="4807208"/>
            <a:ext cx="4787146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ea typeface="Calibri" panose="020F0502020204030204" pitchFamily="34" charset="0"/>
                <a:cs typeface="Arial" panose="020B0604020202020204" pitchFamily="34" charset="0"/>
              </a:rPr>
              <a:t>Adjust metrics (eval loss for best model)</a:t>
            </a:r>
            <a:endParaRPr lang="en-US" sz="16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7563922" y="5130701"/>
            <a:ext cx="4787146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ea typeface="Calibri" panose="020F0502020204030204" pitchFamily="34" charset="0"/>
                <a:cs typeface="Arial" panose="020B0604020202020204" pitchFamily="34" charset="0"/>
              </a:rPr>
              <a:t>Component classification formulated</a:t>
            </a:r>
            <a:br>
              <a:rPr lang="en-US" sz="1600" dirty="0">
                <a:solidFill>
                  <a:srgbClr val="405449"/>
                </a:solidFill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rgbClr val="405449"/>
                </a:solidFill>
                <a:ea typeface="Calibri" panose="020F0502020204030204" pitchFamily="34" charset="0"/>
                <a:cs typeface="Arial" panose="020B0604020202020204" pitchFamily="34" charset="0"/>
              </a:rPr>
              <a:t>as a ranking problem</a:t>
            </a:r>
            <a:endParaRPr lang="en-US" sz="16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74771" y="464344"/>
            <a:ext cx="1417201" cy="317421"/>
          </a:xfrm>
          <a:prstGeom prst="roundRect">
            <a:avLst>
              <a:gd name="adj" fmla="val 38304"/>
            </a:avLst>
          </a:prstGeom>
          <a:solidFill>
            <a:srgbClr val="DDEEE0"/>
          </a:solidFill>
          <a:ln/>
        </p:spPr>
        <p:txBody>
          <a:bodyPr/>
          <a:lstStyle/>
          <a:p>
            <a:endParaRPr lang="en-IL" sz="24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75974" y="555546"/>
            <a:ext cx="135017" cy="1350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78499" y="514945"/>
            <a:ext cx="1012269" cy="216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974771" y="849273"/>
            <a:ext cx="7463076" cy="527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4000" b="1" dirty="0">
                <a:solidFill>
                  <a:srgbClr val="3B4540"/>
                </a:solidFill>
                <a:ea typeface="Fraunces Extra Bold" pitchFamily="34" charset="-122"/>
                <a:cs typeface="Fraunces Extra Bold" pitchFamily="34" charset="-120"/>
              </a:rPr>
              <a:t>Results: Significant Improvements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974771" y="1630204"/>
            <a:ext cx="10680859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Evaluated on two test sets: Easy (seen context) and Hard (unseen context)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974771" y="2153483"/>
            <a:ext cx="4584144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 b="1" dirty="0">
                <a:solidFill>
                  <a:srgbClr val="3B4540"/>
                </a:solidFill>
                <a:ea typeface="Fraunces Extra Bold" pitchFamily="34" charset="-122"/>
                <a:cs typeface="Fraunces Extra Bold" pitchFamily="34" charset="-120"/>
              </a:rPr>
              <a:t>Component Classification Accuracy</a:t>
            </a:r>
            <a:endParaRPr lang="en-US" sz="2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2370" y="2723198"/>
            <a:ext cx="9085659" cy="337506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974771" y="6288167"/>
            <a:ext cx="10680859" cy="1478280"/>
          </a:xfrm>
          <a:prstGeom prst="roundRect">
            <a:avLst>
              <a:gd name="adj" fmla="val 1028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L" sz="2400"/>
          </a:p>
        </p:txBody>
      </p:sp>
      <p:sp>
        <p:nvSpPr>
          <p:cNvPr id="10" name="Shape 6"/>
          <p:cNvSpPr/>
          <p:nvPr/>
        </p:nvSpPr>
        <p:spPr>
          <a:xfrm>
            <a:off x="1982391" y="6295787"/>
            <a:ext cx="10665619" cy="48768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L" sz="2400"/>
          </a:p>
        </p:txBody>
      </p:sp>
      <p:sp>
        <p:nvSpPr>
          <p:cNvPr id="11" name="Text 7"/>
          <p:cNvSpPr/>
          <p:nvPr/>
        </p:nvSpPr>
        <p:spPr>
          <a:xfrm>
            <a:off x="2151221" y="6404610"/>
            <a:ext cx="2324933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Dataset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821436" y="6404610"/>
            <a:ext cx="1787843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Zero-Shot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954560" y="6404610"/>
            <a:ext cx="1787843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Few-Shot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9087683" y="6404610"/>
            <a:ext cx="1787843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Fine-Tuned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1220807" y="6404610"/>
            <a:ext cx="1258372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Gain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1982391" y="6783467"/>
            <a:ext cx="10665619" cy="48768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L" sz="2400"/>
          </a:p>
        </p:txBody>
      </p:sp>
      <p:sp>
        <p:nvSpPr>
          <p:cNvPr id="17" name="Text 13"/>
          <p:cNvSpPr/>
          <p:nvPr/>
        </p:nvSpPr>
        <p:spPr>
          <a:xfrm>
            <a:off x="2151221" y="6892290"/>
            <a:ext cx="2324933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Easy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821436" y="6892290"/>
            <a:ext cx="1787843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66.5%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954560" y="6892290"/>
            <a:ext cx="1787843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72.5%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9087683" y="6892290"/>
            <a:ext cx="1787843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highlight>
                  <a:srgbClr val="438951"/>
                </a:highlight>
                <a:ea typeface="Nobile" pitchFamily="34" charset="-122"/>
                <a:cs typeface="Nobile" pitchFamily="34" charset="-120"/>
              </a:rPr>
              <a:t>88.5%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11220807" y="6892290"/>
            <a:ext cx="1258372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+22.0%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1982391" y="7271147"/>
            <a:ext cx="10665619" cy="48768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L" sz="2400"/>
          </a:p>
        </p:txBody>
      </p:sp>
      <p:sp>
        <p:nvSpPr>
          <p:cNvPr id="23" name="Text 19"/>
          <p:cNvSpPr/>
          <p:nvPr/>
        </p:nvSpPr>
        <p:spPr>
          <a:xfrm>
            <a:off x="2151221" y="7379970"/>
            <a:ext cx="2324933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Hard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4821436" y="7379970"/>
            <a:ext cx="1787843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76%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6954560" y="7379970"/>
            <a:ext cx="1787843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73%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9087683" y="7379970"/>
            <a:ext cx="1787843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highlight>
                  <a:srgbClr val="438951"/>
                </a:highlight>
                <a:ea typeface="Nobile" pitchFamily="34" charset="-122"/>
                <a:cs typeface="Nobile" pitchFamily="34" charset="-120"/>
              </a:rPr>
              <a:t>95.5%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11220807" y="7379970"/>
            <a:ext cx="1258372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+22.5%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86733" y="506730"/>
            <a:ext cx="4607362" cy="575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400" b="1" dirty="0">
                <a:solidFill>
                  <a:srgbClr val="3B4540"/>
                </a:solidFill>
                <a:ea typeface="Fraunces Extra Bold" pitchFamily="34" charset="-122"/>
                <a:cs typeface="Fraunces Extra Bold" pitchFamily="34" charset="-120"/>
              </a:rPr>
              <a:t>Results: Graphs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486733" y="1156335"/>
            <a:ext cx="5066348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800" b="1" dirty="0">
                <a:solidFill>
                  <a:srgbClr val="3B4540"/>
                </a:solidFill>
                <a:ea typeface="Fraunces Extra Bold" pitchFamily="34" charset="-122"/>
                <a:cs typeface="Fraunces Extra Bold" pitchFamily="34" charset="-120"/>
              </a:rPr>
              <a:t>Severity Classification Performance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4233" y="1778198"/>
            <a:ext cx="9761696" cy="413075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486733" y="6116241"/>
            <a:ext cx="11656814" cy="1608296"/>
          </a:xfrm>
          <a:prstGeom prst="roundRect">
            <a:avLst>
              <a:gd name="adj" fmla="val 10313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L" sz="2400"/>
          </a:p>
        </p:txBody>
      </p:sp>
      <p:sp>
        <p:nvSpPr>
          <p:cNvPr id="6" name="Shape 3"/>
          <p:cNvSpPr/>
          <p:nvPr/>
        </p:nvSpPr>
        <p:spPr>
          <a:xfrm>
            <a:off x="1494353" y="6123861"/>
            <a:ext cx="11641574" cy="5310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L" sz="2400"/>
          </a:p>
        </p:txBody>
      </p:sp>
      <p:sp>
        <p:nvSpPr>
          <p:cNvPr id="7" name="Text 4"/>
          <p:cNvSpPr/>
          <p:nvPr/>
        </p:nvSpPr>
        <p:spPr>
          <a:xfrm>
            <a:off x="1678781" y="6241971"/>
            <a:ext cx="1956078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b="1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Dataset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010858" y="6241971"/>
            <a:ext cx="1952268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b="1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Baseline Acc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339126" y="6241971"/>
            <a:ext cx="1952268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b="1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Fine-Tuned Acc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8667393" y="6241971"/>
            <a:ext cx="1952268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b="1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Baseline F1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0995660" y="6241971"/>
            <a:ext cx="1956078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b="1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Fine-Tuned F1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1494353" y="6654879"/>
            <a:ext cx="11641574" cy="5310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L" sz="2400"/>
          </a:p>
        </p:txBody>
      </p:sp>
      <p:sp>
        <p:nvSpPr>
          <p:cNvPr id="13" name="Text 10"/>
          <p:cNvSpPr/>
          <p:nvPr/>
        </p:nvSpPr>
        <p:spPr>
          <a:xfrm>
            <a:off x="1678781" y="6772989"/>
            <a:ext cx="1956078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Easy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010858" y="6772989"/>
            <a:ext cx="1952268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67.5%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339126" y="6772989"/>
            <a:ext cx="1952268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dirty="0">
                <a:solidFill>
                  <a:srgbClr val="FFFFFF"/>
                </a:solidFill>
                <a:highlight>
                  <a:srgbClr val="438951"/>
                </a:highlight>
                <a:ea typeface="Nobile" pitchFamily="34" charset="-122"/>
                <a:cs typeface="Nobile" pitchFamily="34" charset="-120"/>
              </a:rPr>
              <a:t>79%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8667393" y="6772989"/>
            <a:ext cx="1952268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0.6708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10995660" y="6772989"/>
            <a:ext cx="1956078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dirty="0">
                <a:solidFill>
                  <a:srgbClr val="FFFFFF"/>
                </a:solidFill>
                <a:highlight>
                  <a:srgbClr val="438951"/>
                </a:highlight>
                <a:ea typeface="Nobile" pitchFamily="34" charset="-122"/>
                <a:cs typeface="Nobile" pitchFamily="34" charset="-120"/>
              </a:rPr>
              <a:t>0.7783</a:t>
            </a: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1494353" y="7185898"/>
            <a:ext cx="11641574" cy="5310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L" sz="2400"/>
          </a:p>
        </p:txBody>
      </p:sp>
      <p:sp>
        <p:nvSpPr>
          <p:cNvPr id="19" name="Text 16"/>
          <p:cNvSpPr/>
          <p:nvPr/>
        </p:nvSpPr>
        <p:spPr>
          <a:xfrm>
            <a:off x="1678781" y="7304008"/>
            <a:ext cx="1956078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Hard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010858" y="7304008"/>
            <a:ext cx="1952268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67.5%</a:t>
            </a: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339126" y="7304008"/>
            <a:ext cx="1952268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dirty="0">
                <a:solidFill>
                  <a:srgbClr val="FFFFFF"/>
                </a:solidFill>
                <a:highlight>
                  <a:srgbClr val="438951"/>
                </a:highlight>
                <a:ea typeface="Nobile" pitchFamily="34" charset="-122"/>
                <a:cs typeface="Nobile" pitchFamily="34" charset="-120"/>
              </a:rPr>
              <a:t>75.5%</a:t>
            </a: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8667393" y="7304008"/>
            <a:ext cx="1952268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0.6475</a:t>
            </a: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10995660" y="7304008"/>
            <a:ext cx="1956078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dirty="0">
                <a:solidFill>
                  <a:srgbClr val="FFFFFF"/>
                </a:solidFill>
                <a:highlight>
                  <a:srgbClr val="438951"/>
                </a:highlight>
                <a:ea typeface="Nobile" pitchFamily="34" charset="-122"/>
                <a:cs typeface="Nobile" pitchFamily="34" charset="-120"/>
              </a:rPr>
              <a:t>0.7303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1260" y="2308860"/>
            <a:ext cx="3611880" cy="36118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04599" y="1019889"/>
            <a:ext cx="1099304" cy="339923"/>
          </a:xfrm>
          <a:prstGeom prst="roundRect">
            <a:avLst>
              <a:gd name="adj" fmla="val 36593"/>
            </a:avLst>
          </a:prstGeom>
          <a:noFill/>
          <a:ln w="7620">
            <a:solidFill>
              <a:srgbClr val="438951"/>
            </a:solidFill>
            <a:prstDash val="solid"/>
          </a:ln>
        </p:spPr>
        <p:txBody>
          <a:bodyPr/>
          <a:lstStyle/>
          <a:p>
            <a:endParaRPr lang="en-IL" sz="240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5804" y="1120735"/>
            <a:ext cx="138113" cy="138112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922972" y="1079302"/>
            <a:ext cx="669727" cy="221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438951"/>
                </a:solidFill>
                <a:ea typeface="Nobile" pitchFamily="34" charset="-122"/>
                <a:cs typeface="Nobile" pitchFamily="34" charset="-120"/>
              </a:rPr>
              <a:t>INSIGHTS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604599" y="1428869"/>
            <a:ext cx="7579757" cy="539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4000" b="1" dirty="0">
                <a:solidFill>
                  <a:srgbClr val="3B4540"/>
                </a:solidFill>
                <a:ea typeface="Fraunces Extra Bold" pitchFamily="34" charset="-122"/>
                <a:cs typeface="Fraunces Extra Bold" pitchFamily="34" charset="-120"/>
              </a:rPr>
              <a:t>Key Learnings &amp; Future Directions</a:t>
            </a:r>
            <a:endParaRPr lang="en-US" sz="4000" dirty="0"/>
          </a:p>
        </p:txBody>
      </p:sp>
      <p:sp>
        <p:nvSpPr>
          <p:cNvPr id="8" name="Shape 3"/>
          <p:cNvSpPr/>
          <p:nvPr/>
        </p:nvSpPr>
        <p:spPr>
          <a:xfrm>
            <a:off x="604599" y="2227898"/>
            <a:ext cx="7934801" cy="1317427"/>
          </a:xfrm>
          <a:prstGeom prst="roundRect">
            <a:avLst>
              <a:gd name="adj" fmla="val 11802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en-IL" sz="2400"/>
          </a:p>
        </p:txBody>
      </p:sp>
      <p:sp>
        <p:nvSpPr>
          <p:cNvPr id="9" name="Text 4"/>
          <p:cNvSpPr/>
          <p:nvPr/>
        </p:nvSpPr>
        <p:spPr>
          <a:xfrm>
            <a:off x="800219" y="2423517"/>
            <a:ext cx="2159437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ea typeface="Fraunces Extra Bold" pitchFamily="34" charset="-122"/>
                <a:cs typeface="Fraunces Extra Bold" pitchFamily="34" charset="-120"/>
              </a:rPr>
              <a:t>Achievement</a:t>
            </a:r>
            <a:endParaRPr lang="en-US" sz="2000" dirty="0"/>
          </a:p>
        </p:txBody>
      </p:sp>
      <p:sp>
        <p:nvSpPr>
          <p:cNvPr id="10" name="Text 5"/>
          <p:cNvSpPr/>
          <p:nvPr/>
        </p:nvSpPr>
        <p:spPr>
          <a:xfrm>
            <a:off x="800219" y="2797016"/>
            <a:ext cx="7543562" cy="55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Successfully trained universal model that predicts components and severity on unseen workflows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604599" y="3718084"/>
            <a:ext cx="7934801" cy="1377791"/>
          </a:xfrm>
          <a:prstGeom prst="roundRect">
            <a:avLst>
              <a:gd name="adj" fmla="val 11285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en-IL" sz="2400"/>
          </a:p>
        </p:txBody>
      </p:sp>
      <p:sp>
        <p:nvSpPr>
          <p:cNvPr id="12" name="Text 7"/>
          <p:cNvSpPr/>
          <p:nvPr/>
        </p:nvSpPr>
        <p:spPr>
          <a:xfrm>
            <a:off x="800219" y="3913703"/>
            <a:ext cx="2159437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ea typeface="Fraunces Extra Bold" pitchFamily="34" charset="-122"/>
                <a:cs typeface="Fraunces Extra Bold" pitchFamily="34" charset="-120"/>
              </a:rPr>
              <a:t>Critical Lessons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800219" y="4287203"/>
            <a:ext cx="7543562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Clear label definitions essential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00219" y="4623911"/>
            <a:ext cx="7543562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Testing on unseen data crucial for validation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04599" y="5354955"/>
            <a:ext cx="2591395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800" b="1" dirty="0">
                <a:solidFill>
                  <a:srgbClr val="3B4540"/>
                </a:solidFill>
                <a:ea typeface="Fraunces Extra Bold" pitchFamily="34" charset="-122"/>
                <a:cs typeface="Fraunces Extra Bold" pitchFamily="34" charset="-120"/>
              </a:rPr>
              <a:t>Future Exploration</a:t>
            </a:r>
            <a:endParaRPr lang="en-US" sz="2800" dirty="0"/>
          </a:p>
        </p:txBody>
      </p:sp>
      <p:sp>
        <p:nvSpPr>
          <p:cNvPr id="16" name="Shape 11"/>
          <p:cNvSpPr/>
          <p:nvPr/>
        </p:nvSpPr>
        <p:spPr>
          <a:xfrm>
            <a:off x="604599" y="5938004"/>
            <a:ext cx="3880961" cy="1271707"/>
          </a:xfrm>
          <a:prstGeom prst="roundRect">
            <a:avLst>
              <a:gd name="adj" fmla="val 32604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IL" sz="2400"/>
          </a:p>
        </p:txBody>
      </p:sp>
      <p:sp>
        <p:nvSpPr>
          <p:cNvPr id="17" name="Text 12"/>
          <p:cNvSpPr/>
          <p:nvPr/>
        </p:nvSpPr>
        <p:spPr>
          <a:xfrm>
            <a:off x="1465302" y="6110764"/>
            <a:ext cx="2159437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ea typeface="Fraunces Extra Bold" pitchFamily="34" charset="-122"/>
                <a:cs typeface="Fraunces Extra Bold" pitchFamily="34" charset="-120"/>
              </a:rPr>
              <a:t>Real-World Data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777359" y="6484263"/>
            <a:ext cx="3535442" cy="55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Deploy with multiple companies, collect real tickets for enhanced training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4658320" y="5938004"/>
            <a:ext cx="3881080" cy="1271707"/>
          </a:xfrm>
          <a:prstGeom prst="roundRect">
            <a:avLst>
              <a:gd name="adj" fmla="val 32604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IL" sz="2400"/>
          </a:p>
        </p:txBody>
      </p:sp>
      <p:sp>
        <p:nvSpPr>
          <p:cNvPr id="20" name="Text 15"/>
          <p:cNvSpPr/>
          <p:nvPr/>
        </p:nvSpPr>
        <p:spPr>
          <a:xfrm>
            <a:off x="5519142" y="6110764"/>
            <a:ext cx="2159437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ea typeface="Fraunces Extra Bold" pitchFamily="34" charset="-122"/>
                <a:cs typeface="Fraunces Extra Bold" pitchFamily="34" charset="-120"/>
              </a:rPr>
              <a:t>Active Learning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4831080" y="6484263"/>
            <a:ext cx="3535561" cy="55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User corrections as supervision signals for continuous model improvement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</TotalTime>
  <Words>355</Words>
  <Application>Microsoft Office PowerPoint</Application>
  <PresentationFormat>Custom</PresentationFormat>
  <Paragraphs>104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Nobile</vt:lpstr>
      <vt:lpstr>Fraunces Extra Bold</vt:lpstr>
      <vt:lpstr>Aptos Display</vt:lpstr>
      <vt:lpstr>Calibri</vt:lpstr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Amit Hazan</cp:lastModifiedBy>
  <cp:revision>5</cp:revision>
  <dcterms:created xsi:type="dcterms:W3CDTF">2026-01-15T15:44:16Z</dcterms:created>
  <dcterms:modified xsi:type="dcterms:W3CDTF">2026-01-16T13:58:01Z</dcterms:modified>
</cp:coreProperties>
</file>