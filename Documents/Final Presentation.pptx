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8" r:id="rId1"/>
  </p:sldMasterIdLst>
  <p:notesMasterIdLst>
    <p:notesMasterId r:id="rId12"/>
  </p:notesMasterIdLst>
  <p:sldIdLst>
    <p:sldId id="256" r:id="rId2"/>
    <p:sldId id="269" r:id="rId3"/>
    <p:sldId id="257" r:id="rId4"/>
    <p:sldId id="258" r:id="rId5"/>
    <p:sldId id="259" r:id="rId6"/>
    <p:sldId id="260" r:id="rId7"/>
    <p:sldId id="264" r:id="rId8"/>
    <p:sldId id="265" r:id="rId9"/>
    <p:sldId id="262" r:id="rId10"/>
    <p:sldId id="263" r:id="rId11"/>
  </p:sldIdLst>
  <p:sldSz cx="14630400" cy="8229600"/>
  <p:notesSz cx="8229600" cy="14630400"/>
  <p:embeddedFontLst>
    <p:embeddedFont>
      <p:font typeface="Fraunces Extra Bold" panose="020B0604020202020204" charset="0"/>
      <p:regular r:id="rId13"/>
    </p:embeddedFont>
    <p:embeddedFont>
      <p:font typeface="Nobile" panose="020B0604020202020204" charset="0"/>
      <p:regular r:id="rId14"/>
      <p:bold r:id="rId15"/>
      <p:italic r:id="rId16"/>
      <p:boldItalic r:id="rId17"/>
    </p:embeddedFont>
  </p:embeddedFontLst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FFEB"/>
    <a:srgbClr val="FAFF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1" d="100"/>
          <a:sy n="91" d="100"/>
        </p:scale>
        <p:origin x="61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36389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9C236-4D35-73E7-A6C7-C788A2DD01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8800" y="1346836"/>
            <a:ext cx="10972800" cy="2865120"/>
          </a:xfrm>
        </p:spPr>
        <p:txBody>
          <a:bodyPr anchor="b"/>
          <a:lstStyle>
            <a:lvl1pPr algn="ctr">
              <a:defRPr sz="7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5F5A5A-0775-21E1-8472-5A19D870C6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4322446"/>
            <a:ext cx="10972800" cy="1986914"/>
          </a:xfrm>
        </p:spPr>
        <p:txBody>
          <a:bodyPr/>
          <a:lstStyle>
            <a:lvl1pPr marL="0" indent="0" algn="ctr">
              <a:buNone/>
              <a:defRPr sz="2880"/>
            </a:lvl1pPr>
            <a:lvl2pPr marL="548640" indent="0" algn="ctr">
              <a:buNone/>
              <a:defRPr sz="2400"/>
            </a:lvl2pPr>
            <a:lvl3pPr marL="1097280" indent="0" algn="ctr">
              <a:buNone/>
              <a:defRPr sz="2160"/>
            </a:lvl3pPr>
            <a:lvl4pPr marL="1645920" indent="0" algn="ctr">
              <a:buNone/>
              <a:defRPr sz="1920"/>
            </a:lvl4pPr>
            <a:lvl5pPr marL="2194560" indent="0" algn="ctr">
              <a:buNone/>
              <a:defRPr sz="1920"/>
            </a:lvl5pPr>
            <a:lvl6pPr marL="2743200" indent="0" algn="ctr">
              <a:buNone/>
              <a:defRPr sz="1920"/>
            </a:lvl6pPr>
            <a:lvl7pPr marL="3291840" indent="0" algn="ctr">
              <a:buNone/>
              <a:defRPr sz="1920"/>
            </a:lvl7pPr>
            <a:lvl8pPr marL="3840480" indent="0" algn="ctr">
              <a:buNone/>
              <a:defRPr sz="1920"/>
            </a:lvl8pPr>
            <a:lvl9pPr marL="4389120" indent="0" algn="ctr">
              <a:buNone/>
              <a:defRPr sz="192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525AAF-919B-ADDE-23AF-E388C53C1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094D1-86A1-46A6-95C8-B21369F124B9}" type="datetimeFigureOut">
              <a:rPr lang="en-IL" smtClean="0"/>
              <a:t>01/19/2026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F1A0F8-C414-BEBF-49FB-A5AC04F6C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B81D2C-136F-8031-FBC4-C6B79AAD1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09A3A-AEE7-4B10-9438-CE0C37114A4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47952592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7CB98-E498-1B5C-EA50-18E34C541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A4479-1B71-749B-88E1-BF107C8557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C96434-15ED-2A89-E911-EC140936E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094D1-86A1-46A6-95C8-B21369F124B9}" type="datetimeFigureOut">
              <a:rPr lang="en-IL" smtClean="0"/>
              <a:t>01/19/2026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9A5C46-A0B9-93CE-0591-41FFD31BE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00523E-D5AA-8B97-CE97-1B2C02E4A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09A3A-AEE7-4B10-9438-CE0C37114A4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86844761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6F044-D619-FAA0-498D-8BE7CC96F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220" y="2051686"/>
            <a:ext cx="12618720" cy="3423284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E335ED-933A-872F-5C8F-FF78174A7A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98220" y="5507356"/>
            <a:ext cx="12618720" cy="1800224"/>
          </a:xfrm>
        </p:spPr>
        <p:txBody>
          <a:bodyPr/>
          <a:lstStyle>
            <a:lvl1pPr marL="0" indent="0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1pPr>
            <a:lvl2pPr marL="54864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2pPr>
            <a:lvl3pPr marL="1097280" indent="0">
              <a:buNone/>
              <a:defRPr sz="2160">
                <a:solidFill>
                  <a:schemeClr val="tx1">
                    <a:tint val="82000"/>
                  </a:schemeClr>
                </a:solidFill>
              </a:defRPr>
            </a:lvl3pPr>
            <a:lvl4pPr marL="16459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4pPr>
            <a:lvl5pPr marL="219456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5pPr>
            <a:lvl6pPr marL="274320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6pPr>
            <a:lvl7pPr marL="329184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7pPr>
            <a:lvl8pPr marL="384048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8pPr>
            <a:lvl9pPr marL="43891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26C862-CEB8-93D3-E03A-4DC1DA4E4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094D1-86A1-46A6-95C8-B21369F124B9}" type="datetimeFigureOut">
              <a:rPr lang="en-IL" smtClean="0"/>
              <a:t>01/19/2026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176903-BAC5-8CF8-22F6-AAD5F5241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C3D73-4DED-1162-7816-77EBDC2B2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09A3A-AEE7-4B10-9438-CE0C37114A4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607549795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0032D-5BBE-9AD5-7A01-88C2DA766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EDD0E-F5B8-BBA4-4F2D-13F3EF950F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05840" y="2190750"/>
            <a:ext cx="621792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D38205-ADAF-C882-8499-416F0299F2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06640" y="2190750"/>
            <a:ext cx="621792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8D6493-5181-526F-90DD-4A9CEED5E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094D1-86A1-46A6-95C8-B21369F124B9}" type="datetimeFigureOut">
              <a:rPr lang="en-IL" smtClean="0"/>
              <a:t>01/19/2026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1600D3-8AAE-1925-B26C-E11018C133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82BBF2-1B5A-80E0-C6FC-BAE646C66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09A3A-AEE7-4B10-9438-CE0C37114A4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63318775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D2E11-2474-93F9-3465-4A712067B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746" y="438150"/>
            <a:ext cx="12618720" cy="15906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C85BF8-3666-80FC-4F33-76E2FD3E11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7746" y="2017396"/>
            <a:ext cx="6189344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86A151-448C-5A79-4FE7-EBB3B95359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07746" y="3006090"/>
            <a:ext cx="6189344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620EFF9-EC6B-C482-7748-B7D7E8A416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406640" y="2017396"/>
            <a:ext cx="6219826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5479C82-F54B-8999-09F8-A25F9B7533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406640" y="3006090"/>
            <a:ext cx="6219826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E09823-6F66-C9A8-4423-B9341C43AD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094D1-86A1-46A6-95C8-B21369F124B9}" type="datetimeFigureOut">
              <a:rPr lang="en-IL" smtClean="0"/>
              <a:t>01/19/2026</a:t>
            </a:fld>
            <a:endParaRPr lang="en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3A6A96C-35FE-8F38-D255-532D83928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F7965BD-B5AA-6219-4412-37F81CCF4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09A3A-AEE7-4B10-9438-CE0C37114A4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293818823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31DBE-4B8B-ED22-68D8-A4A368318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98A55AC-EF63-702F-C4A3-1EC35EE0B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094D1-86A1-46A6-95C8-B21369F124B9}" type="datetimeFigureOut">
              <a:rPr lang="en-IL" smtClean="0"/>
              <a:t>01/19/2026</a:t>
            </a:fld>
            <a:endParaRPr lang="en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4381C0-6A39-980F-969F-4C997E75D3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9C00A2-4841-04ED-BA49-B0214349A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09A3A-AEE7-4B10-9438-CE0C37114A4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33354361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4FC7EC-6BDD-F617-5AC7-F0400AAEB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094D1-86A1-46A6-95C8-B21369F124B9}" type="datetimeFigureOut">
              <a:rPr lang="en-IL" smtClean="0"/>
              <a:t>01/19/2026</a:t>
            </a:fld>
            <a:endParaRPr lang="en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78CF40-F644-0632-224E-E682FF83D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162340-56F8-58CE-4946-C10F3288D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09A3A-AEE7-4B10-9438-CE0C37114A4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770522067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6526F4-EB60-64D8-61BF-18430E19B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572608-B19E-B4D8-B397-2635957A72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19826" y="1184911"/>
            <a:ext cx="7406640" cy="5848350"/>
          </a:xfrm>
        </p:spPr>
        <p:txBody>
          <a:bodyPr/>
          <a:lstStyle>
            <a:lvl1pPr>
              <a:defRPr sz="3840"/>
            </a:lvl1pPr>
            <a:lvl2pPr>
              <a:defRPr sz="3360"/>
            </a:lvl2pPr>
            <a:lvl3pPr>
              <a:defRPr sz="288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80A783-403F-2090-FDB2-EC0564021E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261CF8-4D9A-0B0A-DA9C-959A5B2B42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094D1-86A1-46A6-95C8-B21369F124B9}" type="datetimeFigureOut">
              <a:rPr lang="en-IL" smtClean="0"/>
              <a:t>01/19/2026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56F5CE-2AF8-1D83-4E83-1569D92C6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A6B0BB-9405-BAE8-BA22-72E103A4A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09A3A-AEE7-4B10-9438-CE0C37114A4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735448061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FE03C-2906-EE31-C31E-C3BBBEE7F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4598D3-524A-90F4-3D51-8E882F9E9D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219826" y="1184911"/>
            <a:ext cx="7406640" cy="5848350"/>
          </a:xfrm>
        </p:spPr>
        <p:txBody>
          <a:bodyPr/>
          <a:lstStyle>
            <a:lvl1pPr marL="0" indent="0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2DDF50-3FA9-BEFB-0C01-8F0D6B44C2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4CD759-7545-13C5-3A00-AE14B0683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094D1-86A1-46A6-95C8-B21369F124B9}" type="datetimeFigureOut">
              <a:rPr lang="en-IL" smtClean="0"/>
              <a:t>01/19/2026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2BD4EC-51A3-E029-23CC-C6792ACBA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ABA460-06F6-728E-B0E3-8D857B139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09A3A-AEE7-4B10-9438-CE0C37114A4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00203673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5E0CA-C7BB-BD13-D78F-0C14EBE764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5CFFB3-73D3-563B-F67F-2EC47648BC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4445E4-A39A-B95F-7208-E762E731B3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094D1-86A1-46A6-95C8-B21369F124B9}" type="datetimeFigureOut">
              <a:rPr lang="en-IL" smtClean="0"/>
              <a:t>01/19/2026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740474-0E0C-C869-5C72-3A5192A26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7A8FF1-47E9-FCE8-0AAB-B14BEF284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09A3A-AEE7-4B10-9438-CE0C37114A4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29757657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6BEF5-C383-5842-B53C-C33016BACB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0469880" y="438150"/>
            <a:ext cx="3154680" cy="697420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D053B2-5352-3E88-5C17-70486649FE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05840" y="438150"/>
            <a:ext cx="9281160" cy="697420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0B9C90-0963-BE6A-7073-A3945F81C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094D1-86A1-46A6-95C8-B21369F124B9}" type="datetimeFigureOut">
              <a:rPr lang="en-IL" smtClean="0"/>
              <a:t>01/19/2026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B2E09B-AD32-0063-67CE-4BCA8E3B7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49CC7B-9308-4B11-B913-76815C19A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009A3A-AEE7-4B10-9438-CE0C37114A4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549112155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10977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886897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15850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23428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78789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0598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364896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481968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FFEB">
            <a:alpha val="6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AA9F125-72D3-5D22-13DA-B727EF3B6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5840" y="438150"/>
            <a:ext cx="1261872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7C19B-B4CE-025C-4286-2C1DEBBB4F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5840" y="2190750"/>
            <a:ext cx="12618720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6C6D0B-555A-4400-DC60-054ECB4119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0584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4094D1-86A1-46A6-95C8-B21369F124B9}" type="datetimeFigureOut">
              <a:rPr lang="en-IL" smtClean="0"/>
              <a:t>01/19/2026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49F669-952D-8D23-DC8A-95E0755153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846320" y="7627621"/>
            <a:ext cx="493776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73722B-C621-0137-199E-81835261CB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3272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009A3A-AEE7-4B10-9438-CE0C37114A41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8325632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</p:sldLayoutIdLst>
  <p:hf sldNum="0" hdr="0" ftr="0" dt="0"/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52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1pPr>
      <a:lvl2pPr marL="8229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svg"/><Relationship Id="rId3" Type="http://schemas.openxmlformats.org/officeDocument/2006/relationships/image" Target="../media/image11.svg"/><Relationship Id="rId7" Type="http://schemas.openxmlformats.org/officeDocument/2006/relationships/image" Target="../media/image15.svg"/><Relationship Id="rId12" Type="http://schemas.openxmlformats.org/officeDocument/2006/relationships/image" Target="../media/image20.png"/><Relationship Id="rId17" Type="http://schemas.openxmlformats.org/officeDocument/2006/relationships/image" Target="../media/image25.svg"/><Relationship Id="rId2" Type="http://schemas.openxmlformats.org/officeDocument/2006/relationships/image" Target="../media/image10.png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14.png"/><Relationship Id="rId11" Type="http://schemas.openxmlformats.org/officeDocument/2006/relationships/image" Target="../media/image19.svg"/><Relationship Id="rId5" Type="http://schemas.openxmlformats.org/officeDocument/2006/relationships/image" Target="../media/image13.svg"/><Relationship Id="rId15" Type="http://schemas.openxmlformats.org/officeDocument/2006/relationships/image" Target="../media/image23.sv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svg"/><Relationship Id="rId1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31.sv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736646" y="2355771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3B4540"/>
                </a:solidFill>
                <a:latin typeface="Aptos" panose="020B0004020202020204" pitchFamily="34" charset="0"/>
                <a:ea typeface="Fraunces Extra Bold" pitchFamily="34" charset="-122"/>
                <a:cs typeface="Aharoni" panose="02010803020104030203" pitchFamily="2" charset="-79"/>
              </a:rPr>
              <a:t>UTM</a:t>
            </a:r>
            <a:endParaRPr lang="en-US" sz="4450" dirty="0">
              <a:latin typeface="Aptos" panose="020B0004020202020204" pitchFamily="34" charset="0"/>
              <a:cs typeface="Aharoni" panose="02010803020104030203" pitchFamily="2" charset="-79"/>
            </a:endParaRPr>
          </a:p>
        </p:txBody>
      </p:sp>
      <p:sp>
        <p:nvSpPr>
          <p:cNvPr id="4" name="Text 1"/>
          <p:cNvSpPr/>
          <p:nvPr/>
        </p:nvSpPr>
        <p:spPr>
          <a:xfrm>
            <a:off x="793790" y="3404711"/>
            <a:ext cx="7556421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550"/>
              </a:lnSpc>
              <a:buNone/>
            </a:pPr>
            <a:r>
              <a:rPr lang="en-US" sz="2200" dirty="0">
                <a:solidFill>
                  <a:srgbClr val="EB0303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Universal</a:t>
            </a:r>
            <a:r>
              <a:rPr lang="en-US" sz="2200" dirty="0">
                <a:solidFill>
                  <a:srgbClr val="4A644E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</a:t>
            </a:r>
            <a:r>
              <a:rPr lang="en-US" sz="2200" dirty="0">
                <a:solidFill>
                  <a:srgbClr val="E68507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Triage</a:t>
            </a:r>
            <a:r>
              <a:rPr lang="en-US" sz="2200" dirty="0">
                <a:solidFill>
                  <a:srgbClr val="4A644E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 </a:t>
            </a:r>
            <a:r>
              <a:rPr lang="en-US" sz="2200" dirty="0">
                <a:solidFill>
                  <a:srgbClr val="65BE03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Model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93790" y="4113371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Universal IT approach in industrial workflows</a:t>
            </a: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3154323" y="489287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400" b="1" dirty="0">
                <a:solidFill>
                  <a:srgbClr val="3B4540"/>
                </a:solidFill>
                <a:latin typeface="Aptos" panose="020B0004020202020204" pitchFamily="34" charset="0"/>
                <a:ea typeface="Fraunces Extra Bold" pitchFamily="34" charset="-122"/>
                <a:cs typeface="Aharoni" panose="02010803020104030203" pitchFamily="2" charset="-79"/>
              </a:rPr>
              <a:t>Team</a:t>
            </a:r>
            <a:r>
              <a:rPr lang="en-US" sz="2200" b="1" dirty="0">
                <a:solidFill>
                  <a:srgbClr val="3B4540"/>
                </a:solidFill>
                <a:latin typeface="Fraunces Extra Bold" pitchFamily="34" charset="0"/>
                <a:ea typeface="Fraunces Extra Bold" pitchFamily="34" charset="-122"/>
                <a:cs typeface="Fraunces Extra Bold" pitchFamily="34" charset="-120"/>
              </a:rPr>
              <a:t>: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93790" y="5510927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405449"/>
                </a:solidFill>
                <a:latin typeface="Nobile" pitchFamily="34" charset="0"/>
                <a:ea typeface="Nobile" pitchFamily="34" charset="-122"/>
                <a:cs typeface="Nobile" pitchFamily="34" charset="-120"/>
              </a:rPr>
              <a:t>Abed Haj Yahia, Amit Hazan, Lior Mizrachi</a:t>
            </a:r>
            <a:endParaRPr lang="en-US" sz="175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8B9D605-5D92-D0E6-4E82-AD5D26DA42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2859" y="1003886"/>
            <a:ext cx="6130413" cy="601474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982612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000000"/>
                </a:solidFill>
                <a:ea typeface="Inter Bold" pitchFamily="34" charset="-122"/>
                <a:cs typeface="Inter Bold" pitchFamily="34" charset="-120"/>
              </a:rPr>
              <a:t>Introduction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2932509"/>
            <a:ext cx="75564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dirty="0">
                <a:solidFill>
                  <a:srgbClr val="272525"/>
                </a:solidFill>
                <a:ea typeface="Inter" pitchFamily="34" charset="-122"/>
                <a:cs typeface="Inter" pitchFamily="34" charset="-120"/>
              </a:rPr>
              <a:t>The process of triage in IT can be long and expensive Whether it is in the lengthy tickets, vague descriptions or complex systems.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793790" y="4117119"/>
            <a:ext cx="75564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dirty="0">
                <a:solidFill>
                  <a:srgbClr val="272525"/>
                </a:solidFill>
                <a:ea typeface="Inter" pitchFamily="34" charset="-122"/>
                <a:cs typeface="Inter" pitchFamily="34" charset="-120"/>
              </a:rPr>
              <a:t>For that purpose, we have trained a model that helps discern the root of the problem in the system and the severity of said problem.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793790" y="5301729"/>
            <a:ext cx="75564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dirty="0">
                <a:solidFill>
                  <a:srgbClr val="272525"/>
                </a:solidFill>
                <a:ea typeface="Inter" pitchFamily="34" charset="-122"/>
                <a:cs typeface="Inter" pitchFamily="34" charset="-120"/>
              </a:rPr>
              <a:t>Our model can take in support ticket text and quickly detect the root of the issue and how problematic it is.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8625" y="516136"/>
            <a:ext cx="2172891" cy="367784"/>
          </a:xfrm>
          <a:prstGeom prst="roundRect">
            <a:avLst>
              <a:gd name="adj" fmla="val 36749"/>
            </a:avLst>
          </a:prstGeom>
          <a:noFill/>
          <a:ln w="7620">
            <a:solidFill>
              <a:srgbClr val="438951"/>
            </a:solidFill>
            <a:prstDash val="solid"/>
          </a:ln>
        </p:spPr>
        <p:txBody>
          <a:bodyPr/>
          <a:lstStyle/>
          <a:p>
            <a:endParaRPr lang="en-IL" sz="200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98759" y="624959"/>
            <a:ext cx="150138" cy="15013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23906" y="579953"/>
            <a:ext cx="1707475" cy="240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200" dirty="0">
                <a:solidFill>
                  <a:srgbClr val="438951"/>
                </a:solidFill>
                <a:ea typeface="Nobile" pitchFamily="34" charset="-122"/>
                <a:cs typeface="Nobile" pitchFamily="34" charset="-120"/>
              </a:rPr>
              <a:t>TECHNICAL APPROACH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378625" y="958929"/>
            <a:ext cx="4692968" cy="586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3B4540"/>
                </a:solidFill>
                <a:ea typeface="Fraunces Extra Bold" pitchFamily="34" charset="-122"/>
                <a:cs typeface="Fraunces Extra Bold" pitchFamily="34" charset="-120"/>
              </a:rPr>
              <a:t>Model Architecture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1378625" y="1620560"/>
            <a:ext cx="2346484" cy="2932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3B4540"/>
                </a:solidFill>
                <a:ea typeface="Fraunces Extra Bold" pitchFamily="34" charset="-122"/>
                <a:cs typeface="Fraunces Extra Bold" pitchFamily="34" charset="-120"/>
              </a:rPr>
              <a:t>Model Pipeline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378625" y="2195274"/>
            <a:ext cx="11873151" cy="3003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GPT-3.5 for data generation, Llama 3.2 baseline, RoBERTa fine-tuning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1519357" y="2706767"/>
            <a:ext cx="22860" cy="3380542"/>
          </a:xfrm>
          <a:prstGeom prst="roundRect">
            <a:avLst>
              <a:gd name="adj" fmla="val 739052"/>
            </a:avLst>
          </a:prstGeom>
          <a:solidFill>
            <a:srgbClr val="CED9CE"/>
          </a:solidFill>
          <a:ln/>
        </p:spPr>
        <p:txBody>
          <a:bodyPr/>
          <a:lstStyle/>
          <a:p>
            <a:endParaRPr lang="en-IL" sz="2000"/>
          </a:p>
        </p:txBody>
      </p:sp>
      <p:sp>
        <p:nvSpPr>
          <p:cNvPr id="9" name="Shape 6"/>
          <p:cNvSpPr/>
          <p:nvPr/>
        </p:nvSpPr>
        <p:spPr>
          <a:xfrm>
            <a:off x="1496497" y="2906435"/>
            <a:ext cx="375404" cy="22860"/>
          </a:xfrm>
          <a:prstGeom prst="roundRect">
            <a:avLst>
              <a:gd name="adj" fmla="val 739052"/>
            </a:avLst>
          </a:prstGeom>
          <a:solidFill>
            <a:srgbClr val="CED9CE"/>
          </a:solidFill>
          <a:ln/>
        </p:spPr>
        <p:txBody>
          <a:bodyPr/>
          <a:lstStyle/>
          <a:p>
            <a:endParaRPr lang="en-IL" sz="2000"/>
          </a:p>
        </p:txBody>
      </p:sp>
      <p:sp>
        <p:nvSpPr>
          <p:cNvPr id="10" name="Shape 7"/>
          <p:cNvSpPr/>
          <p:nvPr/>
        </p:nvSpPr>
        <p:spPr>
          <a:xfrm>
            <a:off x="1448991" y="2847499"/>
            <a:ext cx="140732" cy="140732"/>
          </a:xfrm>
          <a:prstGeom prst="roundRect">
            <a:avLst>
              <a:gd name="adj" fmla="val 324873"/>
            </a:avLst>
          </a:prstGeom>
          <a:solidFill>
            <a:srgbClr val="438951"/>
          </a:solidFill>
          <a:ln/>
        </p:spPr>
        <p:txBody>
          <a:bodyPr/>
          <a:lstStyle/>
          <a:p>
            <a:endParaRPr lang="en-IL" sz="2000"/>
          </a:p>
        </p:txBody>
      </p:sp>
      <p:sp>
        <p:nvSpPr>
          <p:cNvPr id="11" name="Text 8"/>
          <p:cNvSpPr/>
          <p:nvPr/>
        </p:nvSpPr>
        <p:spPr>
          <a:xfrm>
            <a:off x="2270284" y="2771180"/>
            <a:ext cx="2346484" cy="2932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ea typeface="Fraunces Extra Bold" pitchFamily="34" charset="-122"/>
                <a:cs typeface="Fraunces Extra Bold" pitchFamily="34" charset="-120"/>
              </a:rPr>
              <a:t>Input Processing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2270284" y="3176945"/>
            <a:ext cx="10981492" cy="3003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Company background (industry, enterprise information system)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2270284" y="3542943"/>
            <a:ext cx="10981492" cy="3003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Workflow description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2270284" y="3908941"/>
            <a:ext cx="10981492" cy="3003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Components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2270284" y="4274939"/>
            <a:ext cx="10981492" cy="3003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User report ticket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496497" y="5150406"/>
            <a:ext cx="375404" cy="22860"/>
          </a:xfrm>
          <a:prstGeom prst="roundRect">
            <a:avLst>
              <a:gd name="adj" fmla="val 739052"/>
            </a:avLst>
          </a:prstGeom>
          <a:solidFill>
            <a:srgbClr val="CED9CE"/>
          </a:solidFill>
          <a:ln/>
        </p:spPr>
        <p:txBody>
          <a:bodyPr/>
          <a:lstStyle/>
          <a:p>
            <a:endParaRPr lang="en-IL" sz="2000"/>
          </a:p>
        </p:txBody>
      </p:sp>
      <p:sp>
        <p:nvSpPr>
          <p:cNvPr id="17" name="Shape 14"/>
          <p:cNvSpPr/>
          <p:nvPr/>
        </p:nvSpPr>
        <p:spPr>
          <a:xfrm>
            <a:off x="1448991" y="5091470"/>
            <a:ext cx="140732" cy="140732"/>
          </a:xfrm>
          <a:prstGeom prst="roundRect">
            <a:avLst>
              <a:gd name="adj" fmla="val 324873"/>
            </a:avLst>
          </a:prstGeom>
          <a:solidFill>
            <a:srgbClr val="438951"/>
          </a:solidFill>
          <a:ln/>
        </p:spPr>
        <p:txBody>
          <a:bodyPr/>
          <a:lstStyle/>
          <a:p>
            <a:endParaRPr lang="en-IL" sz="2000"/>
          </a:p>
        </p:txBody>
      </p:sp>
      <p:sp>
        <p:nvSpPr>
          <p:cNvPr id="18" name="Text 15"/>
          <p:cNvSpPr/>
          <p:nvPr/>
        </p:nvSpPr>
        <p:spPr>
          <a:xfrm>
            <a:off x="2270284" y="5015151"/>
            <a:ext cx="2346484" cy="2932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ea typeface="Fraunces Extra Bold" pitchFamily="34" charset="-122"/>
                <a:cs typeface="Fraunces Extra Bold" pitchFamily="34" charset="-120"/>
              </a:rPr>
              <a:t>Output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2270284" y="5420916"/>
            <a:ext cx="10981492" cy="3003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Affected component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2270284" y="5786914"/>
            <a:ext cx="10981492" cy="3003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Severity level (Medium, High, Critical)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1378625" y="6392247"/>
            <a:ext cx="11873151" cy="31075"/>
          </a:xfrm>
          <a:prstGeom prst="rect">
            <a:avLst/>
          </a:prstGeom>
          <a:solidFill>
            <a:srgbClr val="405449">
              <a:alpha val="50000"/>
            </a:srgbClr>
          </a:solidFill>
          <a:ln/>
        </p:spPr>
        <p:txBody>
          <a:bodyPr/>
          <a:lstStyle/>
          <a:p>
            <a:endParaRPr lang="en-IL" sz="2000"/>
          </a:p>
        </p:txBody>
      </p:sp>
      <p:sp>
        <p:nvSpPr>
          <p:cNvPr id="22" name="Shape 19"/>
          <p:cNvSpPr/>
          <p:nvPr/>
        </p:nvSpPr>
        <p:spPr>
          <a:xfrm>
            <a:off x="1378625" y="6634401"/>
            <a:ext cx="5842754" cy="1081445"/>
          </a:xfrm>
          <a:prstGeom prst="roundRect">
            <a:avLst>
              <a:gd name="adj" fmla="val 15622"/>
            </a:avLst>
          </a:prstGeom>
          <a:solidFill>
            <a:srgbClr val="E8F3E8"/>
          </a:solidFill>
          <a:ln/>
        </p:spPr>
        <p:txBody>
          <a:bodyPr/>
          <a:lstStyle/>
          <a:p>
            <a:endParaRPr lang="en-IL" sz="2000"/>
          </a:p>
        </p:txBody>
      </p:sp>
      <p:sp>
        <p:nvSpPr>
          <p:cNvPr id="23" name="Text 20"/>
          <p:cNvSpPr/>
          <p:nvPr/>
        </p:nvSpPr>
        <p:spPr>
          <a:xfrm>
            <a:off x="1566267" y="6822043"/>
            <a:ext cx="2346484" cy="2932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ea typeface="Fraunces Extra Bold" pitchFamily="34" charset="-122"/>
                <a:cs typeface="Fraunces Extra Bold" pitchFamily="34" charset="-120"/>
              </a:rPr>
              <a:t>Component Metrics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1566267" y="7227808"/>
            <a:ext cx="5467469" cy="3003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Accuracy, Top-k ranking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7409021" y="6634401"/>
            <a:ext cx="5842754" cy="1081445"/>
          </a:xfrm>
          <a:prstGeom prst="roundRect">
            <a:avLst>
              <a:gd name="adj" fmla="val 15622"/>
            </a:avLst>
          </a:prstGeom>
          <a:solidFill>
            <a:srgbClr val="E8F3E8"/>
          </a:solidFill>
          <a:ln/>
        </p:spPr>
        <p:txBody>
          <a:bodyPr/>
          <a:lstStyle/>
          <a:p>
            <a:endParaRPr lang="en-IL" sz="2000"/>
          </a:p>
        </p:txBody>
      </p:sp>
      <p:sp>
        <p:nvSpPr>
          <p:cNvPr id="26" name="Text 23"/>
          <p:cNvSpPr/>
          <p:nvPr/>
        </p:nvSpPr>
        <p:spPr>
          <a:xfrm>
            <a:off x="7596664" y="6822043"/>
            <a:ext cx="2346484" cy="2932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ea typeface="Fraunces Extra Bold" pitchFamily="34" charset="-122"/>
                <a:cs typeface="Fraunces Extra Bold" pitchFamily="34" charset="-120"/>
              </a:rPr>
              <a:t>Severity Metrics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7596664" y="7227808"/>
            <a:ext cx="5467469" cy="3003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F1 Score (macro), Accuracy, Weighted F1</a:t>
            </a:r>
            <a:endParaRPr lang="en-US" sz="1600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C5B3116F-545F-6DA7-1339-A916F5919E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9021" y="3047828"/>
            <a:ext cx="6707661" cy="366170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7B8B1A18-3B98-4EAD-BC99-4A83E184B023}"/>
              </a:ext>
            </a:extLst>
          </p:cNvPr>
          <p:cNvGrpSpPr/>
          <p:nvPr/>
        </p:nvGrpSpPr>
        <p:grpSpPr>
          <a:xfrm>
            <a:off x="891183" y="565594"/>
            <a:ext cx="13003174" cy="7098412"/>
            <a:chOff x="891183" y="565594"/>
            <a:chExt cx="13003174" cy="7098412"/>
          </a:xfrm>
        </p:grpSpPr>
        <p:sp>
          <p:nvSpPr>
            <p:cNvPr id="2" name="Text 0"/>
            <p:cNvSpPr/>
            <p:nvPr/>
          </p:nvSpPr>
          <p:spPr>
            <a:xfrm>
              <a:off x="891183" y="741283"/>
              <a:ext cx="12847915" cy="324922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2550"/>
                </a:lnSpc>
                <a:buNone/>
              </a:pPr>
              <a:endParaRPr lang="en-US" sz="1550" dirty="0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528536D-DFB0-FA18-5964-C5B35636DA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91183" y="565594"/>
              <a:ext cx="13003174" cy="7098412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D877E7C9-3EFB-4F79-8DBC-258B812F36F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66331" t="59125" r="2597" b="5675"/>
            <a:stretch/>
          </p:blipFill>
          <p:spPr>
            <a:xfrm>
              <a:off x="9511085" y="2364295"/>
              <a:ext cx="4040372" cy="2498651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6A62241-AC5F-41BA-909B-9C34BAA49AD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66292" t="26008" r="2370" b="40031"/>
            <a:stretch/>
          </p:blipFill>
          <p:spPr>
            <a:xfrm>
              <a:off x="9476509" y="4862946"/>
              <a:ext cx="4074948" cy="2410691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93790" y="1674852"/>
            <a:ext cx="2306955" cy="426244"/>
          </a:xfrm>
          <a:prstGeom prst="roundRect">
            <a:avLst>
              <a:gd name="adj" fmla="val 38315"/>
            </a:avLst>
          </a:prstGeom>
          <a:solidFill>
            <a:srgbClr val="DDEEE0"/>
          </a:solidFill>
          <a:ln/>
        </p:spPr>
        <p:txBody>
          <a:bodyPr/>
          <a:lstStyle/>
          <a:p>
            <a:endParaRPr lang="en-IL" sz="200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29878" y="1797248"/>
            <a:ext cx="181451" cy="18145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02055" y="1742837"/>
            <a:ext cx="1762601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PROJECT OVERVIEW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793790" y="2191822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800" b="1" dirty="0">
                <a:solidFill>
                  <a:srgbClr val="3B4540"/>
                </a:solidFill>
                <a:latin typeface="Aptos" panose="020B0004020202020204" pitchFamily="34" charset="0"/>
                <a:ea typeface="Fraunces Extra Bold" pitchFamily="34" charset="-122"/>
                <a:cs typeface="Fraunces Extra Bold" pitchFamily="34" charset="-120"/>
              </a:rPr>
              <a:t>Problem &amp; Solution</a:t>
            </a:r>
            <a:endParaRPr lang="en-US" sz="4800" dirty="0">
              <a:latin typeface="Aptos" panose="020B0004020202020204" pitchFamily="34" charset="0"/>
            </a:endParaRPr>
          </a:p>
        </p:txBody>
      </p:sp>
      <p:sp>
        <p:nvSpPr>
          <p:cNvPr id="7" name="Text 3"/>
          <p:cNvSpPr/>
          <p:nvPr/>
        </p:nvSpPr>
        <p:spPr>
          <a:xfrm>
            <a:off x="793790" y="346757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 dirty="0">
                <a:solidFill>
                  <a:srgbClr val="3B4540"/>
                </a:solidFill>
                <a:latin typeface="Aptos" panose="020B0004020202020204" pitchFamily="34" charset="0"/>
                <a:ea typeface="Fraunces Extra Bold" pitchFamily="34" charset="-122"/>
                <a:cs typeface="Fraunces Extra Bold" pitchFamily="34" charset="-120"/>
              </a:rPr>
              <a:t>Current Challenge</a:t>
            </a:r>
            <a:endParaRPr lang="en-US" sz="2400" dirty="0">
              <a:latin typeface="Aptos" panose="020B0004020202020204" pitchFamily="34" charset="0"/>
            </a:endParaRPr>
          </a:p>
        </p:txBody>
      </p:sp>
      <p:sp>
        <p:nvSpPr>
          <p:cNvPr id="8" name="Text 4"/>
          <p:cNvSpPr/>
          <p:nvPr/>
        </p:nvSpPr>
        <p:spPr>
          <a:xfrm>
            <a:off x="793790" y="4048720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Manual ticket classification is costly and time-consuming</a:t>
            </a:r>
            <a:endParaRPr lang="en-US" dirty="0"/>
          </a:p>
        </p:txBody>
      </p:sp>
      <p:sp>
        <p:nvSpPr>
          <p:cNvPr id="9" name="Text 5"/>
          <p:cNvSpPr/>
          <p:nvPr/>
        </p:nvSpPr>
        <p:spPr>
          <a:xfrm>
            <a:off x="793790" y="4978598"/>
            <a:ext cx="35015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High operational costs</a:t>
            </a:r>
            <a:endParaRPr lang="en-US" dirty="0"/>
          </a:p>
        </p:txBody>
      </p:sp>
      <p:sp>
        <p:nvSpPr>
          <p:cNvPr id="10" name="Text 6"/>
          <p:cNvSpPr/>
          <p:nvPr/>
        </p:nvSpPr>
        <p:spPr>
          <a:xfrm>
            <a:off x="793790" y="5420797"/>
            <a:ext cx="35015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Slow response times</a:t>
            </a:r>
            <a:endParaRPr lang="en-US" dirty="0"/>
          </a:p>
        </p:txBody>
      </p:sp>
      <p:sp>
        <p:nvSpPr>
          <p:cNvPr id="11" name="Text 7"/>
          <p:cNvSpPr/>
          <p:nvPr/>
        </p:nvSpPr>
        <p:spPr>
          <a:xfrm>
            <a:off x="793790" y="5862995"/>
            <a:ext cx="35015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ts val="2850"/>
              </a:lnSpc>
              <a:buSzPct val="100000"/>
            </a:pPr>
            <a:endParaRPr lang="en-US" dirty="0"/>
          </a:p>
        </p:txBody>
      </p:sp>
      <p:sp>
        <p:nvSpPr>
          <p:cNvPr id="12" name="Text 8"/>
          <p:cNvSpPr/>
          <p:nvPr/>
        </p:nvSpPr>
        <p:spPr>
          <a:xfrm>
            <a:off x="4856321" y="346757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 dirty="0">
                <a:solidFill>
                  <a:srgbClr val="3B4540"/>
                </a:solidFill>
                <a:latin typeface="Aptos" panose="020B0004020202020204" pitchFamily="34" charset="0"/>
                <a:ea typeface="Fraunces Extra Bold" pitchFamily="34" charset="-122"/>
                <a:cs typeface="Fraunces Extra Bold" pitchFamily="34" charset="-120"/>
              </a:rPr>
              <a:t>Our Innovation</a:t>
            </a:r>
            <a:endParaRPr lang="en-US" sz="2400" dirty="0">
              <a:latin typeface="Aptos" panose="020B0004020202020204" pitchFamily="34" charset="0"/>
            </a:endParaRPr>
          </a:p>
        </p:txBody>
      </p:sp>
      <p:sp>
        <p:nvSpPr>
          <p:cNvPr id="13" name="Text 9"/>
          <p:cNvSpPr/>
          <p:nvPr/>
        </p:nvSpPr>
        <p:spPr>
          <a:xfrm>
            <a:off x="4856321" y="4048720"/>
            <a:ext cx="350150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Universal AI model adaptable across varied software systems</a:t>
            </a:r>
            <a:endParaRPr lang="en-US" dirty="0"/>
          </a:p>
        </p:txBody>
      </p:sp>
      <p:sp>
        <p:nvSpPr>
          <p:cNvPr id="14" name="Text 10"/>
          <p:cNvSpPr/>
          <p:nvPr/>
        </p:nvSpPr>
        <p:spPr>
          <a:xfrm>
            <a:off x="4856321" y="4978598"/>
            <a:ext cx="35015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Automated classification</a:t>
            </a:r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4856321" y="5420797"/>
            <a:ext cx="35015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Multi-company deployment</a:t>
            </a:r>
            <a:endParaRPr lang="en-US" dirty="0"/>
          </a:p>
        </p:txBody>
      </p:sp>
      <p:sp>
        <p:nvSpPr>
          <p:cNvPr id="16" name="Text 12"/>
          <p:cNvSpPr/>
          <p:nvPr/>
        </p:nvSpPr>
        <p:spPr>
          <a:xfrm>
            <a:off x="4856321" y="5987772"/>
            <a:ext cx="35015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67639" y="456724"/>
            <a:ext cx="1922859" cy="327184"/>
          </a:xfrm>
          <a:prstGeom prst="roundRect">
            <a:avLst>
              <a:gd name="adj" fmla="val 36515"/>
            </a:avLst>
          </a:prstGeom>
          <a:noFill/>
          <a:ln w="7620">
            <a:solidFill>
              <a:srgbClr val="438951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174796" y="553998"/>
            <a:ext cx="132636" cy="1326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373749" y="514112"/>
            <a:ext cx="1509593" cy="2124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100" dirty="0">
                <a:solidFill>
                  <a:srgbClr val="438951"/>
                </a:solidFill>
                <a:ea typeface="Nobile" pitchFamily="34" charset="-122"/>
                <a:cs typeface="Nobile" pitchFamily="34" charset="-120"/>
              </a:rPr>
              <a:t>TECHNICAL APPROACH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2067639" y="850225"/>
            <a:ext cx="7582733" cy="5185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050"/>
              </a:lnSpc>
              <a:buNone/>
            </a:pPr>
            <a:r>
              <a:rPr lang="en-US" sz="4000" b="1" dirty="0">
                <a:solidFill>
                  <a:srgbClr val="3B4540"/>
                </a:solidFill>
                <a:latin typeface="Aptos" panose="020B0004020202020204" pitchFamily="34" charset="0"/>
                <a:ea typeface="Fraunces Extra Bold" pitchFamily="34" charset="-122"/>
                <a:cs typeface="Fraunces Extra Bold" pitchFamily="34" charset="-120"/>
              </a:rPr>
              <a:t>Model Development &amp; Data Strategy</a:t>
            </a:r>
            <a:endParaRPr lang="en-US" sz="4000" dirty="0">
              <a:latin typeface="Aptos" panose="020B0004020202020204" pitchFamily="34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044779" y="1814632"/>
            <a:ext cx="5164574" cy="1764863"/>
          </a:xfrm>
          <a:prstGeom prst="roundRect">
            <a:avLst>
              <a:gd name="adj" fmla="val 8462"/>
            </a:avLst>
          </a:prstGeom>
          <a:solidFill>
            <a:srgbClr val="FAFFFA"/>
          </a:solidFill>
          <a:ln w="22860">
            <a:solidFill>
              <a:srgbClr val="CED9C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5"/>
          <p:cNvSpPr/>
          <p:nvPr/>
        </p:nvSpPr>
        <p:spPr>
          <a:xfrm>
            <a:off x="2067639" y="1837492"/>
            <a:ext cx="5118854" cy="497681"/>
          </a:xfrm>
          <a:prstGeom prst="roundRect">
            <a:avLst>
              <a:gd name="adj" fmla="val 24495"/>
            </a:avLst>
          </a:prstGeom>
          <a:solidFill>
            <a:srgbClr val="E8F3E8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9" name="Text 6"/>
          <p:cNvSpPr/>
          <p:nvPr/>
        </p:nvSpPr>
        <p:spPr>
          <a:xfrm>
            <a:off x="2218254" y="1956731"/>
            <a:ext cx="2074069" cy="259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latin typeface="Aptos" panose="020B0004020202020204" pitchFamily="34" charset="0"/>
                <a:ea typeface="Fraunces Extra Bold" pitchFamily="34" charset="-122"/>
                <a:cs typeface="Fraunces Extra Bold" pitchFamily="34" charset="-120"/>
              </a:rPr>
              <a:t>Data Generation</a:t>
            </a:r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2233493" y="2454412"/>
            <a:ext cx="4787146" cy="531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dirty="0">
                <a:solidFill>
                  <a:srgbClr val="405449"/>
                </a:solidFill>
                <a:ea typeface="Calibri" panose="020F0502020204030204" pitchFamily="34" charset="0"/>
                <a:cs typeface="Arial" panose="020B0604020202020204" pitchFamily="34" charset="0"/>
              </a:rPr>
              <a:t>~2220 training examples, ~400 test examples</a:t>
            </a:r>
            <a:endParaRPr lang="en-US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7375207" y="1814632"/>
            <a:ext cx="5164574" cy="1764863"/>
          </a:xfrm>
          <a:prstGeom prst="roundRect">
            <a:avLst>
              <a:gd name="adj" fmla="val 8462"/>
            </a:avLst>
          </a:prstGeom>
          <a:solidFill>
            <a:srgbClr val="FAFFFA"/>
          </a:solidFill>
          <a:ln w="22860">
            <a:solidFill>
              <a:srgbClr val="CED9C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9"/>
          <p:cNvSpPr/>
          <p:nvPr/>
        </p:nvSpPr>
        <p:spPr>
          <a:xfrm>
            <a:off x="7398068" y="1837492"/>
            <a:ext cx="5118854" cy="497681"/>
          </a:xfrm>
          <a:prstGeom prst="roundRect">
            <a:avLst>
              <a:gd name="adj" fmla="val 24495"/>
            </a:avLst>
          </a:prstGeom>
          <a:solidFill>
            <a:srgbClr val="E8F3E8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3" name="Text 10"/>
          <p:cNvSpPr/>
          <p:nvPr/>
        </p:nvSpPr>
        <p:spPr>
          <a:xfrm>
            <a:off x="7553442" y="1956732"/>
            <a:ext cx="2074069" cy="259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latin typeface="Aptos" panose="020B0004020202020204" pitchFamily="34" charset="0"/>
                <a:ea typeface="Fraunces Extra Bold" pitchFamily="34" charset="-122"/>
                <a:cs typeface="Fraunces Extra Bold" pitchFamily="34" charset="-120"/>
              </a:rPr>
              <a:t>Baseline Models</a:t>
            </a:r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7553442" y="2511406"/>
            <a:ext cx="4787146" cy="265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Calibri" panose="020F0502020204030204" pitchFamily="34" charset="0"/>
                <a:cs typeface="Arial" panose="020B0604020202020204" pitchFamily="34" charset="0"/>
              </a:rPr>
              <a:t>Llama 3.2 for zero-shot and few-shot testing</a:t>
            </a:r>
            <a:endParaRPr lang="en-US" sz="16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2044779" y="3745349"/>
            <a:ext cx="5164574" cy="3506986"/>
          </a:xfrm>
          <a:prstGeom prst="roundRect">
            <a:avLst>
              <a:gd name="adj" fmla="val 4258"/>
            </a:avLst>
          </a:prstGeom>
          <a:solidFill>
            <a:srgbClr val="FAFFFA"/>
          </a:solidFill>
          <a:ln w="22860">
            <a:solidFill>
              <a:srgbClr val="CED9CE"/>
            </a:solidFill>
            <a:prstDash val="solid"/>
          </a:ln>
        </p:spPr>
        <p:txBody>
          <a:bodyPr/>
          <a:lstStyle/>
          <a:p>
            <a:endParaRPr lang="en-IL" dirty="0"/>
          </a:p>
        </p:txBody>
      </p:sp>
      <p:sp>
        <p:nvSpPr>
          <p:cNvPr id="16" name="Shape 13"/>
          <p:cNvSpPr/>
          <p:nvPr/>
        </p:nvSpPr>
        <p:spPr>
          <a:xfrm>
            <a:off x="2067639" y="3768209"/>
            <a:ext cx="5118854" cy="497681"/>
          </a:xfrm>
          <a:prstGeom prst="roundRect">
            <a:avLst>
              <a:gd name="adj" fmla="val 24495"/>
            </a:avLst>
          </a:prstGeom>
          <a:solidFill>
            <a:srgbClr val="E8F3E8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17" name="Text 14"/>
          <p:cNvSpPr/>
          <p:nvPr/>
        </p:nvSpPr>
        <p:spPr>
          <a:xfrm>
            <a:off x="2222929" y="3867745"/>
            <a:ext cx="2074069" cy="259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latin typeface="Aptos" panose="020B0004020202020204" pitchFamily="34" charset="0"/>
                <a:ea typeface="Fraunces Extra Bold" pitchFamily="34" charset="-122"/>
                <a:cs typeface="Fraunces Extra Bold" pitchFamily="34" charset="-120"/>
              </a:rPr>
              <a:t>Fine-Tuned Models</a:t>
            </a:r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2233493" y="4455996"/>
            <a:ext cx="4787146" cy="265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00" u="sng" dirty="0">
                <a:solidFill>
                  <a:srgbClr val="405449"/>
                </a:solidFill>
                <a:ea typeface="Calibri" panose="020F0502020204030204" pitchFamily="34" charset="0"/>
                <a:cs typeface="Arial" panose="020B0604020202020204" pitchFamily="34" charset="0"/>
              </a:rPr>
              <a:t>Component Classification</a:t>
            </a:r>
            <a:endParaRPr lang="en-US" sz="16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2233493" y="4821042"/>
            <a:ext cx="4787146" cy="265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Calibri" panose="020F0502020204030204" pitchFamily="34" charset="0"/>
                <a:cs typeface="Arial" panose="020B0604020202020204" pitchFamily="34" charset="0"/>
              </a:rPr>
              <a:t>Binary relevance classifier &amp; ranking model</a:t>
            </a:r>
            <a:endParaRPr lang="en-US" sz="16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2233493" y="5144534"/>
            <a:ext cx="4787146" cy="265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Calibri" panose="020F0502020204030204" pitchFamily="34" charset="0"/>
                <a:cs typeface="Arial" panose="020B0604020202020204" pitchFamily="34" charset="0"/>
              </a:rPr>
              <a:t>Metrics: F1, Accuracy, Recall, Precision</a:t>
            </a:r>
            <a:endParaRPr lang="en-US" sz="16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2233493" y="5702975"/>
            <a:ext cx="4787146" cy="265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00" u="sng" dirty="0">
                <a:solidFill>
                  <a:srgbClr val="405449"/>
                </a:solidFill>
                <a:ea typeface="Calibri" panose="020F0502020204030204" pitchFamily="34" charset="0"/>
                <a:cs typeface="Arial" panose="020B0604020202020204" pitchFamily="34" charset="0"/>
              </a:rPr>
              <a:t>Severity Classification</a:t>
            </a:r>
            <a:endParaRPr lang="en-US" sz="16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2233493" y="6068021"/>
            <a:ext cx="4787146" cy="265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Calibri" panose="020F0502020204030204" pitchFamily="34" charset="0"/>
                <a:cs typeface="Arial" panose="020B0604020202020204" pitchFamily="34" charset="0"/>
              </a:rPr>
              <a:t>RoBERTa-base for Critical/High/Medium</a:t>
            </a:r>
            <a:endParaRPr lang="en-US" sz="16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2233493" y="6391513"/>
            <a:ext cx="4787146" cy="531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Calibri" panose="020F0502020204030204" pitchFamily="34" charset="0"/>
                <a:cs typeface="Arial" panose="020B0604020202020204" pitchFamily="34" charset="0"/>
              </a:rPr>
              <a:t>Metrics: F1 (macro &amp; weighted), Accuracy, Recall, Precision</a:t>
            </a:r>
            <a:endParaRPr lang="en-US" sz="16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7375207" y="3745349"/>
            <a:ext cx="5164574" cy="3506986"/>
          </a:xfrm>
          <a:prstGeom prst="roundRect">
            <a:avLst>
              <a:gd name="adj" fmla="val 4258"/>
            </a:avLst>
          </a:prstGeom>
          <a:solidFill>
            <a:srgbClr val="FAFFFA"/>
          </a:solidFill>
          <a:ln w="22860">
            <a:solidFill>
              <a:srgbClr val="CED9C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2"/>
          <p:cNvSpPr/>
          <p:nvPr/>
        </p:nvSpPr>
        <p:spPr>
          <a:xfrm>
            <a:off x="7398068" y="3768209"/>
            <a:ext cx="5118854" cy="497681"/>
          </a:xfrm>
          <a:prstGeom prst="roundRect">
            <a:avLst>
              <a:gd name="adj" fmla="val 24495"/>
            </a:avLst>
          </a:prstGeom>
          <a:solidFill>
            <a:srgbClr val="E8F3E8"/>
          </a:solidFill>
          <a:ln/>
        </p:spPr>
        <p:txBody>
          <a:bodyPr/>
          <a:lstStyle/>
          <a:p>
            <a:endParaRPr lang="en-IL"/>
          </a:p>
        </p:txBody>
      </p:sp>
      <p:sp>
        <p:nvSpPr>
          <p:cNvPr id="26" name="Text 23"/>
          <p:cNvSpPr/>
          <p:nvPr/>
        </p:nvSpPr>
        <p:spPr>
          <a:xfrm>
            <a:off x="7553443" y="3887449"/>
            <a:ext cx="2074069" cy="259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latin typeface="Aptos" panose="020B0004020202020204" pitchFamily="34" charset="0"/>
                <a:ea typeface="Fraunces Extra Bold" pitchFamily="34" charset="-122"/>
                <a:cs typeface="Fraunces Extra Bold" pitchFamily="34" charset="-120"/>
              </a:rPr>
              <a:t>Refinement Efforts</a:t>
            </a:r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7563922" y="4483715"/>
            <a:ext cx="4787146" cy="265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Calibri" panose="020F0502020204030204" pitchFamily="34" charset="0"/>
                <a:cs typeface="Arial" panose="020B0604020202020204" pitchFamily="34" charset="0"/>
              </a:rPr>
              <a:t>Increase data diversity &amp; quantity</a:t>
            </a:r>
            <a:endParaRPr lang="en-US" sz="16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7563922" y="4807208"/>
            <a:ext cx="4787146" cy="265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Adjust metrics (eval loss for best model)</a:t>
            </a:r>
            <a:endParaRPr lang="en-US" sz="16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7563922" y="5130701"/>
            <a:ext cx="4787146" cy="265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Calibri" panose="020F0502020204030204" pitchFamily="34" charset="0"/>
                <a:cs typeface="Arial" panose="020B0604020202020204" pitchFamily="34" charset="0"/>
              </a:rPr>
              <a:t>Component classification formulated</a:t>
            </a:r>
            <a:br>
              <a:rPr lang="en-US" sz="1600" dirty="0">
                <a:solidFill>
                  <a:srgbClr val="405449"/>
                </a:solidFill>
                <a:ea typeface="Calibri" panose="020F0502020204030204" pitchFamily="34" charset="0"/>
                <a:cs typeface="Arial" panose="020B0604020202020204" pitchFamily="34" charset="0"/>
              </a:rPr>
            </a:br>
            <a:r>
              <a:rPr lang="en-US" sz="1600" dirty="0">
                <a:solidFill>
                  <a:srgbClr val="405449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as a ranking problem</a:t>
            </a:r>
            <a:endParaRPr lang="en-US" sz="16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B9C7632-5EBA-5AD2-FDAA-06DB3DE6C8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5555723"/>
              </p:ext>
            </p:extLst>
          </p:nvPr>
        </p:nvGraphicFramePr>
        <p:xfrm>
          <a:off x="945222" y="287771"/>
          <a:ext cx="12934680" cy="7356202"/>
        </p:xfrm>
        <a:graphic>
          <a:graphicData uri="http://schemas.openxmlformats.org/drawingml/2006/table">
            <a:tbl>
              <a:tblPr firstRow="1" firstCol="1" bandRow="1">
                <a:tableStyleId>{68D230F3-CF80-4859-8CE7-A43EE81993B5}</a:tableStyleId>
              </a:tblPr>
              <a:tblGrid>
                <a:gridCol w="4311560">
                  <a:extLst>
                    <a:ext uri="{9D8B030D-6E8A-4147-A177-3AD203B41FA5}">
                      <a16:colId xmlns:a16="http://schemas.microsoft.com/office/drawing/2014/main" val="2678102457"/>
                    </a:ext>
                  </a:extLst>
                </a:gridCol>
                <a:gridCol w="4311560">
                  <a:extLst>
                    <a:ext uri="{9D8B030D-6E8A-4147-A177-3AD203B41FA5}">
                      <a16:colId xmlns:a16="http://schemas.microsoft.com/office/drawing/2014/main" val="838123653"/>
                    </a:ext>
                  </a:extLst>
                </a:gridCol>
                <a:gridCol w="4311560">
                  <a:extLst>
                    <a:ext uri="{9D8B030D-6E8A-4147-A177-3AD203B41FA5}">
                      <a16:colId xmlns:a16="http://schemas.microsoft.com/office/drawing/2014/main" val="4284727693"/>
                    </a:ext>
                  </a:extLst>
                </a:gridCol>
              </a:tblGrid>
              <a:tr h="742021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2000" b="1" dirty="0">
                          <a:solidFill>
                            <a:srgbClr val="1F1F1F"/>
                          </a:solidFill>
                          <a:effectLst/>
                        </a:rPr>
                        <a:t>Category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2000" b="1" dirty="0">
                          <a:solidFill>
                            <a:srgbClr val="1F1F1F"/>
                          </a:solidFill>
                          <a:effectLst/>
                        </a:rPr>
                        <a:t>Component Model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2000" b="1" dirty="0">
                          <a:solidFill>
                            <a:srgbClr val="1F1F1F"/>
                          </a:solidFill>
                          <a:effectLst/>
                        </a:rPr>
                        <a:t>Severity Model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extLst>
                  <a:ext uri="{0D108BD9-81ED-4DB2-BD59-A6C34878D82A}">
                    <a16:rowId xmlns:a16="http://schemas.microsoft.com/office/drawing/2014/main" val="3100602772"/>
                  </a:ext>
                </a:extLst>
              </a:tr>
              <a:tr h="826734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 dirty="0">
                          <a:solidFill>
                            <a:srgbClr val="1F1F1F"/>
                          </a:solidFill>
                          <a:effectLst/>
                        </a:rPr>
                        <a:t>Main Task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dirty="0">
                          <a:solidFill>
                            <a:srgbClr val="1F1F1F"/>
                          </a:solidFill>
                          <a:effectLst/>
                        </a:rPr>
                        <a:t>Binary Classification (Ranker Approach)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dirty="0">
                          <a:solidFill>
                            <a:srgbClr val="1F1F1F"/>
                          </a:solidFill>
                          <a:effectLst/>
                        </a:rPr>
                        <a:t>Multi-class Classification (3 severity levels)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extLst>
                  <a:ext uri="{0D108BD9-81ED-4DB2-BD59-A6C34878D82A}">
                    <a16:rowId xmlns:a16="http://schemas.microsoft.com/office/drawing/2014/main" val="3855637113"/>
                  </a:ext>
                </a:extLst>
              </a:tr>
              <a:tr h="116240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 dirty="0">
                          <a:solidFill>
                            <a:srgbClr val="1F1F1F"/>
                          </a:solidFill>
                          <a:effectLst/>
                        </a:rPr>
                        <a:t>Data Preparation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 dirty="0">
                          <a:solidFill>
                            <a:srgbClr val="1F1F1F"/>
                          </a:solidFill>
                          <a:effectLst/>
                        </a:rPr>
                        <a:t>Explosion:</a:t>
                      </a:r>
                      <a:r>
                        <a:rPr lang="en-US" sz="2000" dirty="0">
                          <a:solidFill>
                            <a:srgbClr val="1F1F1F"/>
                          </a:solidFill>
                          <a:effectLst/>
                        </a:rPr>
                        <a:t> Splitting each issue into separate rows for every component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 dirty="0">
                          <a:solidFill>
                            <a:srgbClr val="1F1F1F"/>
                          </a:solidFill>
                          <a:effectLst/>
                        </a:rPr>
                        <a:t>Contextual Prompt:</a:t>
                      </a:r>
                      <a:r>
                        <a:rPr lang="en-US" sz="2000" dirty="0">
                          <a:solidFill>
                            <a:srgbClr val="1F1F1F"/>
                          </a:solidFill>
                          <a:effectLst/>
                        </a:rPr>
                        <a:t> Including Industry, System, and User Experience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extLst>
                  <a:ext uri="{0D108BD9-81ED-4DB2-BD59-A6C34878D82A}">
                    <a16:rowId xmlns:a16="http://schemas.microsoft.com/office/drawing/2014/main" val="2285620206"/>
                  </a:ext>
                </a:extLst>
              </a:tr>
              <a:tr h="74202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 dirty="0">
                          <a:solidFill>
                            <a:srgbClr val="1F1F1F"/>
                          </a:solidFill>
                          <a:effectLst/>
                        </a:rPr>
                        <a:t>Number of Epochs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L" sz="2000" dirty="0">
                          <a:solidFill>
                            <a:srgbClr val="1F1F1F"/>
                          </a:solidFill>
                          <a:effectLst/>
                        </a:rPr>
                        <a:t>3</a:t>
                      </a:r>
                      <a:endParaRPr lang="en-IL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>
                          <a:solidFill>
                            <a:srgbClr val="1F1F1F"/>
                          </a:solidFill>
                          <a:effectLst/>
                        </a:rPr>
                        <a:t>10 (with Early Stopping)</a:t>
                      </a:r>
                      <a:endParaRPr lang="en-US" sz="200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extLst>
                  <a:ext uri="{0D108BD9-81ED-4DB2-BD59-A6C34878D82A}">
                    <a16:rowId xmlns:a16="http://schemas.microsoft.com/office/drawing/2014/main" val="3369595302"/>
                  </a:ext>
                </a:extLst>
              </a:tr>
              <a:tr h="745515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 dirty="0">
                          <a:solidFill>
                            <a:srgbClr val="1F1F1F"/>
                          </a:solidFill>
                          <a:effectLst/>
                        </a:rPr>
                        <a:t>Learning Rate (LR)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dirty="0">
                          <a:solidFill>
                            <a:srgbClr val="1F1F1F"/>
                          </a:solidFill>
                          <a:effectLst/>
                        </a:rPr>
                        <a:t>3e-5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>
                          <a:solidFill>
                            <a:srgbClr val="1F1F1F"/>
                          </a:solidFill>
                          <a:effectLst/>
                        </a:rPr>
                        <a:t>1e-5</a:t>
                      </a:r>
                      <a:endParaRPr lang="en-US" sz="200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extLst>
                  <a:ext uri="{0D108BD9-81ED-4DB2-BD59-A6C34878D82A}">
                    <a16:rowId xmlns:a16="http://schemas.microsoft.com/office/drawing/2014/main" val="348868380"/>
                  </a:ext>
                </a:extLst>
              </a:tr>
              <a:tr h="74202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 dirty="0">
                          <a:solidFill>
                            <a:srgbClr val="1F1F1F"/>
                          </a:solidFill>
                          <a:effectLst/>
                        </a:rPr>
                        <a:t>Layer Freezing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>
                          <a:solidFill>
                            <a:srgbClr val="1F1F1F"/>
                          </a:solidFill>
                          <a:effectLst/>
                        </a:rPr>
                        <a:t>None (Full training)</a:t>
                      </a:r>
                      <a:endParaRPr lang="en-US" sz="200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>
                          <a:solidFill>
                            <a:srgbClr val="1F1F1F"/>
                          </a:solidFill>
                          <a:effectLst/>
                        </a:rPr>
                        <a:t>Freezing the first 4 layers</a:t>
                      </a:r>
                      <a:endParaRPr lang="en-US" sz="200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extLst>
                  <a:ext uri="{0D108BD9-81ED-4DB2-BD59-A6C34878D82A}">
                    <a16:rowId xmlns:a16="http://schemas.microsoft.com/office/drawing/2014/main" val="3718079923"/>
                  </a:ext>
                </a:extLst>
              </a:tr>
              <a:tr h="826734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 dirty="0">
                          <a:solidFill>
                            <a:srgbClr val="1F1F1F"/>
                          </a:solidFill>
                          <a:effectLst/>
                        </a:rPr>
                        <a:t>Imbalance Management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dirty="0" err="1">
                          <a:solidFill>
                            <a:srgbClr val="444746"/>
                          </a:solidFill>
                          <a:effectLst/>
                        </a:rPr>
                        <a:t>WeightedTrainer</a:t>
                      </a:r>
                      <a:r>
                        <a:rPr lang="en-US" sz="2000" dirty="0">
                          <a:solidFill>
                            <a:srgbClr val="1F1F1F"/>
                          </a:solidFill>
                          <a:effectLst/>
                        </a:rPr>
                        <a:t> (weights for Label 1)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dirty="0" err="1">
                          <a:solidFill>
                            <a:srgbClr val="444746"/>
                          </a:solidFill>
                          <a:effectLst/>
                        </a:rPr>
                        <a:t>WeightedTrainer</a:t>
                      </a:r>
                      <a:r>
                        <a:rPr lang="en-US" sz="2000" dirty="0">
                          <a:solidFill>
                            <a:srgbClr val="1F1F1F"/>
                          </a:solidFill>
                          <a:effectLst/>
                        </a:rPr>
                        <a:t> (weights for Critical and High)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extLst>
                  <a:ext uri="{0D108BD9-81ED-4DB2-BD59-A6C34878D82A}">
                    <a16:rowId xmlns:a16="http://schemas.microsoft.com/office/drawing/2014/main" val="218743446"/>
                  </a:ext>
                </a:extLst>
              </a:tr>
              <a:tr h="74202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 dirty="0">
                          <a:solidFill>
                            <a:srgbClr val="1F1F1F"/>
                          </a:solidFill>
                          <a:effectLst/>
                        </a:rPr>
                        <a:t>Primary Metrics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>
                          <a:solidFill>
                            <a:srgbClr val="1F1F1F"/>
                          </a:solidFill>
                          <a:effectLst/>
                        </a:rPr>
                        <a:t>Top-2 Accuracy</a:t>
                      </a:r>
                      <a:r>
                        <a:rPr lang="en-US" sz="2000">
                          <a:solidFill>
                            <a:srgbClr val="1F1F1F"/>
                          </a:solidFill>
                          <a:effectLst/>
                        </a:rPr>
                        <a:t> and F1</a:t>
                      </a:r>
                      <a:endParaRPr lang="en-US" sz="200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>
                          <a:solidFill>
                            <a:srgbClr val="1F1F1F"/>
                          </a:solidFill>
                          <a:effectLst/>
                        </a:rPr>
                        <a:t>Macro-F1</a:t>
                      </a:r>
                      <a:r>
                        <a:rPr lang="en-US" sz="2000">
                          <a:solidFill>
                            <a:srgbClr val="1F1F1F"/>
                          </a:solidFill>
                          <a:effectLst/>
                        </a:rPr>
                        <a:t> and Accuracy</a:t>
                      </a:r>
                      <a:endParaRPr lang="en-US" sz="200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extLst>
                  <a:ext uri="{0D108BD9-81ED-4DB2-BD59-A6C34878D82A}">
                    <a16:rowId xmlns:a16="http://schemas.microsoft.com/office/drawing/2014/main" val="2149082327"/>
                  </a:ext>
                </a:extLst>
              </a:tr>
              <a:tr h="826734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 dirty="0">
                          <a:solidFill>
                            <a:srgbClr val="1F1F1F"/>
                          </a:solidFill>
                          <a:effectLst/>
                        </a:rPr>
                        <a:t>Regularization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dirty="0">
                          <a:solidFill>
                            <a:srgbClr val="1F1F1F"/>
                          </a:solidFill>
                          <a:effectLst/>
                        </a:rPr>
                        <a:t>Early Stopping, Weight Decay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dirty="0">
                          <a:solidFill>
                            <a:srgbClr val="1F1F1F"/>
                          </a:solidFill>
                          <a:effectLst/>
                        </a:rPr>
                        <a:t>Early Stopping, Weight Decay, Layer Freezing, Warmup</a:t>
                      </a:r>
                      <a:endParaRPr lang="en-US" sz="2000" dirty="0">
                        <a:solidFill>
                          <a:srgbClr val="1F1F1F"/>
                        </a:solidFill>
                        <a:effectLst/>
                        <a:latin typeface="+mj-lt"/>
                      </a:endParaRPr>
                    </a:p>
                  </a:txBody>
                  <a:tcPr marL="114300" marR="114300" marT="76200" marB="76200" anchor="ctr"/>
                </a:tc>
                <a:extLst>
                  <a:ext uri="{0D108BD9-81ED-4DB2-BD59-A6C34878D82A}">
                    <a16:rowId xmlns:a16="http://schemas.microsoft.com/office/drawing/2014/main" val="635172594"/>
                  </a:ext>
                </a:extLst>
              </a:tr>
            </a:tbl>
          </a:graphicData>
        </a:graphic>
      </p:graphicFrame>
      <p:pic>
        <p:nvPicPr>
          <p:cNvPr id="4" name="Graphic 3" descr="Gauge outline">
            <a:extLst>
              <a:ext uri="{FF2B5EF4-FFF2-40B4-BE49-F238E27FC236}">
                <a16:creationId xmlns:a16="http://schemas.microsoft.com/office/drawing/2014/main" id="{7A058B7D-8C5B-CECA-53CB-A176886162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6102" y="3834829"/>
            <a:ext cx="488024" cy="488024"/>
          </a:xfrm>
          <a:prstGeom prst="rect">
            <a:avLst/>
          </a:prstGeom>
        </p:spPr>
      </p:pic>
      <p:pic>
        <p:nvPicPr>
          <p:cNvPr id="6" name="Graphic 5" descr="Bullseye outline">
            <a:extLst>
              <a:ext uri="{FF2B5EF4-FFF2-40B4-BE49-F238E27FC236}">
                <a16:creationId xmlns:a16="http://schemas.microsoft.com/office/drawing/2014/main" id="{8D880600-6CB6-461F-2AA9-75C06017310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6376" y="1191949"/>
            <a:ext cx="508571" cy="508571"/>
          </a:xfrm>
          <a:prstGeom prst="rect">
            <a:avLst/>
          </a:prstGeom>
        </p:spPr>
      </p:pic>
      <p:pic>
        <p:nvPicPr>
          <p:cNvPr id="8" name="Graphic 7" descr="Shield Tick outline">
            <a:extLst>
              <a:ext uri="{FF2B5EF4-FFF2-40B4-BE49-F238E27FC236}">
                <a16:creationId xmlns:a16="http://schemas.microsoft.com/office/drawing/2014/main" id="{928BDEB3-2AB7-EBD0-076C-EBB33EBA992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10964" y="6972821"/>
            <a:ext cx="559942" cy="559942"/>
          </a:xfrm>
          <a:prstGeom prst="rect">
            <a:avLst/>
          </a:prstGeom>
        </p:spPr>
      </p:pic>
      <p:pic>
        <p:nvPicPr>
          <p:cNvPr id="10" name="Graphic 9" descr="Bar graph with upward trend outline">
            <a:extLst>
              <a:ext uri="{FF2B5EF4-FFF2-40B4-BE49-F238E27FC236}">
                <a16:creationId xmlns:a16="http://schemas.microsoft.com/office/drawing/2014/main" id="{F9FEFDC4-595B-B8CA-5D4A-7DFF552E600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71004" y="6131746"/>
            <a:ext cx="563944" cy="563944"/>
          </a:xfrm>
          <a:prstGeom prst="rect">
            <a:avLst/>
          </a:prstGeom>
        </p:spPr>
      </p:pic>
      <p:pic>
        <p:nvPicPr>
          <p:cNvPr id="14" name="Graphic 13" descr="Scales of justice outline">
            <a:extLst>
              <a:ext uri="{FF2B5EF4-FFF2-40B4-BE49-F238E27FC236}">
                <a16:creationId xmlns:a16="http://schemas.microsoft.com/office/drawing/2014/main" id="{E59972A3-BE57-7DFD-F89B-35BB0313686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79198" y="5348257"/>
            <a:ext cx="535202" cy="535202"/>
          </a:xfrm>
          <a:prstGeom prst="rect">
            <a:avLst/>
          </a:prstGeom>
        </p:spPr>
      </p:pic>
      <p:pic>
        <p:nvPicPr>
          <p:cNvPr id="16" name="Graphic 15" descr="Database outline">
            <a:extLst>
              <a:ext uri="{FF2B5EF4-FFF2-40B4-BE49-F238E27FC236}">
                <a16:creationId xmlns:a16="http://schemas.microsoft.com/office/drawing/2014/main" id="{C12D88A5-C036-0E31-3A4F-F1C74FBB7D3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4732" y="2129958"/>
            <a:ext cx="619167" cy="619167"/>
          </a:xfrm>
          <a:prstGeom prst="rect">
            <a:avLst/>
          </a:prstGeom>
        </p:spPr>
      </p:pic>
      <p:pic>
        <p:nvPicPr>
          <p:cNvPr id="18" name="Graphic 17" descr="Stopwatch outline">
            <a:extLst>
              <a:ext uri="{FF2B5EF4-FFF2-40B4-BE49-F238E27FC236}">
                <a16:creationId xmlns:a16="http://schemas.microsoft.com/office/drawing/2014/main" id="{06CA0CA7-31A2-95D6-F237-16E0FF0787AB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71004" y="3096920"/>
            <a:ext cx="563795" cy="563795"/>
          </a:xfrm>
          <a:prstGeom prst="rect">
            <a:avLst/>
          </a:prstGeom>
        </p:spPr>
      </p:pic>
      <p:pic>
        <p:nvPicPr>
          <p:cNvPr id="20" name="Graphic 19" descr="Snowflake outline">
            <a:extLst>
              <a:ext uri="{FF2B5EF4-FFF2-40B4-BE49-F238E27FC236}">
                <a16:creationId xmlns:a16="http://schemas.microsoft.com/office/drawing/2014/main" id="{9A3B90D0-61C3-E156-F6DD-6E2D7A7E2B80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36301" y="4579542"/>
            <a:ext cx="619167" cy="619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2743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28" y="119479"/>
            <a:ext cx="1417201" cy="317421"/>
          </a:xfrm>
          <a:prstGeom prst="roundRect">
            <a:avLst>
              <a:gd name="adj" fmla="val 38304"/>
            </a:avLst>
          </a:prstGeom>
          <a:solidFill>
            <a:srgbClr val="DDEEE0"/>
          </a:solidFill>
          <a:ln/>
        </p:spPr>
        <p:txBody>
          <a:bodyPr/>
          <a:lstStyle/>
          <a:p>
            <a:endParaRPr lang="en-IL" sz="2400"/>
          </a:p>
        </p:txBody>
      </p:sp>
      <p:sp>
        <p:nvSpPr>
          <p:cNvPr id="9" name="Shape 5"/>
          <p:cNvSpPr/>
          <p:nvPr/>
        </p:nvSpPr>
        <p:spPr>
          <a:xfrm>
            <a:off x="1296582" y="6362505"/>
            <a:ext cx="11010236" cy="1643216"/>
          </a:xfrm>
          <a:prstGeom prst="roundRect">
            <a:avLst>
              <a:gd name="adj" fmla="val 10281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IL" sz="2400"/>
          </a:p>
        </p:txBody>
      </p:sp>
      <p:sp>
        <p:nvSpPr>
          <p:cNvPr id="10" name="Shape 6"/>
          <p:cNvSpPr/>
          <p:nvPr/>
        </p:nvSpPr>
        <p:spPr>
          <a:xfrm>
            <a:off x="1486172" y="6480649"/>
            <a:ext cx="10813025" cy="54209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IL" sz="2400"/>
          </a:p>
        </p:txBody>
      </p:sp>
      <p:sp>
        <p:nvSpPr>
          <p:cNvPr id="11" name="Text 7"/>
          <p:cNvSpPr/>
          <p:nvPr/>
        </p:nvSpPr>
        <p:spPr>
          <a:xfrm>
            <a:off x="1770276" y="6613755"/>
            <a:ext cx="2357065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Dataset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447915" y="6613755"/>
            <a:ext cx="1812552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Zero-Shot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581039" y="6613755"/>
            <a:ext cx="1812552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Few-Shot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8714162" y="6613755"/>
            <a:ext cx="1812552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Fine-Tuned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0854602" y="6613755"/>
            <a:ext cx="1275764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Gain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1486172" y="6968329"/>
            <a:ext cx="10813025" cy="542092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en-IL" sz="2400"/>
          </a:p>
        </p:txBody>
      </p:sp>
      <p:sp>
        <p:nvSpPr>
          <p:cNvPr id="17" name="Text 13"/>
          <p:cNvSpPr/>
          <p:nvPr/>
        </p:nvSpPr>
        <p:spPr>
          <a:xfrm>
            <a:off x="1770276" y="7101435"/>
            <a:ext cx="2357065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Easy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4447915" y="7101435"/>
            <a:ext cx="1812552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66.5%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6581039" y="7101435"/>
            <a:ext cx="1812552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72.5%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8714162" y="7101435"/>
            <a:ext cx="1812552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dirty="0">
                <a:ea typeface="Nobile" pitchFamily="34" charset="-122"/>
                <a:cs typeface="Nobile" pitchFamily="34" charset="-120"/>
              </a:rPr>
              <a:t>88.5%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10854602" y="7101435"/>
            <a:ext cx="1275764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dirty="0">
                <a:solidFill>
                  <a:schemeClr val="bg1"/>
                </a:solidFill>
                <a:highlight>
                  <a:srgbClr val="008000"/>
                </a:highlight>
                <a:ea typeface="Nobile" pitchFamily="34" charset="-122"/>
                <a:cs typeface="Nobile" pitchFamily="34" charset="-120"/>
              </a:rPr>
              <a:t>+</a:t>
            </a:r>
            <a:r>
              <a:rPr lang="en-US" sz="1600" dirty="0">
                <a:solidFill>
                  <a:schemeClr val="bg1"/>
                </a:solidFill>
                <a:highlight>
                  <a:srgbClr val="008000"/>
                </a:highlight>
              </a:rPr>
              <a:t>16.0</a:t>
            </a:r>
            <a:r>
              <a:rPr lang="en-US" sz="1600" dirty="0">
                <a:solidFill>
                  <a:schemeClr val="bg1"/>
                </a:solidFill>
                <a:highlight>
                  <a:srgbClr val="008000"/>
                </a:highlight>
                <a:ea typeface="Nobile" pitchFamily="34" charset="-122"/>
                <a:cs typeface="Nobile" pitchFamily="34" charset="-120"/>
              </a:rPr>
              <a:t>%</a:t>
            </a:r>
            <a:endParaRPr lang="en-US" sz="1600" dirty="0">
              <a:solidFill>
                <a:schemeClr val="bg1"/>
              </a:solidFill>
              <a:highlight>
                <a:srgbClr val="008000"/>
              </a:highlight>
            </a:endParaRPr>
          </a:p>
        </p:txBody>
      </p:sp>
      <p:sp>
        <p:nvSpPr>
          <p:cNvPr id="22" name="Shape 18"/>
          <p:cNvSpPr/>
          <p:nvPr/>
        </p:nvSpPr>
        <p:spPr>
          <a:xfrm>
            <a:off x="1486172" y="7456009"/>
            <a:ext cx="10813025" cy="54209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IL" sz="2400"/>
          </a:p>
        </p:txBody>
      </p:sp>
      <p:sp>
        <p:nvSpPr>
          <p:cNvPr id="23" name="Text 19"/>
          <p:cNvSpPr/>
          <p:nvPr/>
        </p:nvSpPr>
        <p:spPr>
          <a:xfrm>
            <a:off x="1770276" y="7589115"/>
            <a:ext cx="2357065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Hard</a:t>
            </a:r>
            <a:endParaRPr lang="en-US" sz="1600" dirty="0"/>
          </a:p>
        </p:txBody>
      </p:sp>
      <p:sp>
        <p:nvSpPr>
          <p:cNvPr id="24" name="Text 20"/>
          <p:cNvSpPr/>
          <p:nvPr/>
        </p:nvSpPr>
        <p:spPr>
          <a:xfrm>
            <a:off x="4447915" y="7589115"/>
            <a:ext cx="1812552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76%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6581039" y="7589115"/>
            <a:ext cx="1812552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73%</a:t>
            </a:r>
            <a:endParaRPr lang="en-US" sz="1600" dirty="0"/>
          </a:p>
        </p:txBody>
      </p:sp>
      <p:sp>
        <p:nvSpPr>
          <p:cNvPr id="26" name="Text 22"/>
          <p:cNvSpPr/>
          <p:nvPr/>
        </p:nvSpPr>
        <p:spPr>
          <a:xfrm>
            <a:off x="8714162" y="7589115"/>
            <a:ext cx="1812552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dirty="0">
                <a:ea typeface="Nobile" pitchFamily="34" charset="-122"/>
                <a:cs typeface="Nobile" pitchFamily="34" charset="-120"/>
              </a:rPr>
              <a:t>95.5%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10854602" y="7589115"/>
            <a:ext cx="1275764" cy="300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600" dirty="0">
                <a:solidFill>
                  <a:schemeClr val="bg1"/>
                </a:solidFill>
                <a:highlight>
                  <a:srgbClr val="008000"/>
                </a:highlight>
                <a:ea typeface="Nobile" pitchFamily="34" charset="-122"/>
                <a:cs typeface="Nobile" pitchFamily="34" charset="-120"/>
              </a:rPr>
              <a:t>+</a:t>
            </a:r>
            <a:r>
              <a:rPr lang="en-US" sz="1600" dirty="0">
                <a:solidFill>
                  <a:schemeClr val="bg1"/>
                </a:solidFill>
                <a:highlight>
                  <a:srgbClr val="008000"/>
                </a:highlight>
              </a:rPr>
              <a:t>19.5</a:t>
            </a:r>
            <a:r>
              <a:rPr lang="en-US" sz="1600" dirty="0">
                <a:solidFill>
                  <a:schemeClr val="bg1"/>
                </a:solidFill>
                <a:highlight>
                  <a:srgbClr val="008000"/>
                </a:highlight>
                <a:ea typeface="Nobile" pitchFamily="34" charset="-122"/>
                <a:cs typeface="Nobile" pitchFamily="34" charset="-120"/>
              </a:rPr>
              <a:t>%</a:t>
            </a:r>
            <a:endParaRPr lang="en-US" sz="1600" dirty="0">
              <a:solidFill>
                <a:schemeClr val="bg1"/>
              </a:solidFill>
              <a:highlight>
                <a:srgbClr val="008000"/>
              </a:highlight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F7C77E6-2AAE-4906-8B42-46673EA9A22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-170" t="261" r="3419" b="24361"/>
          <a:stretch/>
        </p:blipFill>
        <p:spPr>
          <a:xfrm>
            <a:off x="0" y="20253"/>
            <a:ext cx="14501976" cy="63422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486733" y="1156335"/>
            <a:ext cx="5066348" cy="3455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800" b="1" dirty="0">
                <a:solidFill>
                  <a:srgbClr val="3B4540"/>
                </a:solidFill>
                <a:ea typeface="Fraunces Extra Bold" pitchFamily="34" charset="-122"/>
                <a:cs typeface="Fraunces Extra Bold" pitchFamily="34" charset="-120"/>
              </a:rPr>
              <a:t>Severity Classification Performance</a:t>
            </a:r>
            <a:endParaRPr lang="en-US" sz="2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4233" y="1778198"/>
            <a:ext cx="9761696" cy="413075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86733" y="6116241"/>
            <a:ext cx="11656814" cy="1608296"/>
          </a:xfrm>
          <a:prstGeom prst="roundRect">
            <a:avLst>
              <a:gd name="adj" fmla="val 10313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IL" sz="2400"/>
          </a:p>
        </p:txBody>
      </p:sp>
      <p:sp>
        <p:nvSpPr>
          <p:cNvPr id="6" name="Shape 3"/>
          <p:cNvSpPr/>
          <p:nvPr/>
        </p:nvSpPr>
        <p:spPr>
          <a:xfrm>
            <a:off x="1494353" y="6123861"/>
            <a:ext cx="11641574" cy="5310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IL" sz="2400"/>
          </a:p>
        </p:txBody>
      </p:sp>
      <p:sp>
        <p:nvSpPr>
          <p:cNvPr id="7" name="Text 4"/>
          <p:cNvSpPr/>
          <p:nvPr/>
        </p:nvSpPr>
        <p:spPr>
          <a:xfrm>
            <a:off x="1678781" y="6241971"/>
            <a:ext cx="195607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b="1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Dataset</a:t>
            </a: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4010858" y="6241971"/>
            <a:ext cx="195226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b="1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Baseline Acc</a:t>
            </a: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339126" y="6241971"/>
            <a:ext cx="195226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b="1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Fine-Tuned Acc</a:t>
            </a: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8667393" y="6241971"/>
            <a:ext cx="195226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b="1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Baseline F1</a:t>
            </a: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10995660" y="6241971"/>
            <a:ext cx="195607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b="1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Fine-Tuned F1</a:t>
            </a:r>
            <a:endParaRPr lang="en-US" dirty="0"/>
          </a:p>
        </p:txBody>
      </p:sp>
      <p:sp>
        <p:nvSpPr>
          <p:cNvPr id="12" name="Shape 9"/>
          <p:cNvSpPr/>
          <p:nvPr/>
        </p:nvSpPr>
        <p:spPr>
          <a:xfrm>
            <a:off x="1494353" y="6654879"/>
            <a:ext cx="11641574" cy="53101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en-IL" sz="2400"/>
          </a:p>
        </p:txBody>
      </p:sp>
      <p:sp>
        <p:nvSpPr>
          <p:cNvPr id="13" name="Text 10"/>
          <p:cNvSpPr/>
          <p:nvPr/>
        </p:nvSpPr>
        <p:spPr>
          <a:xfrm>
            <a:off x="1678781" y="6772989"/>
            <a:ext cx="195607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Easy</a:t>
            </a: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4010858" y="6772989"/>
            <a:ext cx="195226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67.5%</a:t>
            </a: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6339126" y="6772989"/>
            <a:ext cx="195226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dirty="0">
                <a:solidFill>
                  <a:srgbClr val="FFFFFF"/>
                </a:solidFill>
                <a:highlight>
                  <a:srgbClr val="438951"/>
                </a:highlight>
                <a:ea typeface="Nobile" pitchFamily="34" charset="-122"/>
                <a:cs typeface="Nobile" pitchFamily="34" charset="-120"/>
              </a:rPr>
              <a:t>79%</a:t>
            </a: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8667393" y="6772989"/>
            <a:ext cx="195226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0.6708</a:t>
            </a: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10995660" y="6772989"/>
            <a:ext cx="195607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dirty="0">
                <a:solidFill>
                  <a:srgbClr val="FFFFFF"/>
                </a:solidFill>
                <a:highlight>
                  <a:srgbClr val="438951"/>
                </a:highlight>
                <a:ea typeface="Nobile" pitchFamily="34" charset="-122"/>
                <a:cs typeface="Nobile" pitchFamily="34" charset="-120"/>
              </a:rPr>
              <a:t>0.7783</a:t>
            </a:r>
            <a:endParaRPr lang="en-US" dirty="0"/>
          </a:p>
        </p:txBody>
      </p:sp>
      <p:sp>
        <p:nvSpPr>
          <p:cNvPr id="18" name="Shape 15"/>
          <p:cNvSpPr/>
          <p:nvPr/>
        </p:nvSpPr>
        <p:spPr>
          <a:xfrm>
            <a:off x="1494353" y="7185898"/>
            <a:ext cx="11641574" cy="5310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IL" sz="2400"/>
          </a:p>
        </p:txBody>
      </p:sp>
      <p:sp>
        <p:nvSpPr>
          <p:cNvPr id="19" name="Text 16"/>
          <p:cNvSpPr/>
          <p:nvPr/>
        </p:nvSpPr>
        <p:spPr>
          <a:xfrm>
            <a:off x="1678781" y="7304008"/>
            <a:ext cx="195607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Hard</a:t>
            </a: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4010858" y="7304008"/>
            <a:ext cx="195226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67.5%</a:t>
            </a: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6339126" y="7304008"/>
            <a:ext cx="195226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dirty="0">
                <a:solidFill>
                  <a:srgbClr val="FFFFFF"/>
                </a:solidFill>
                <a:highlight>
                  <a:srgbClr val="438951"/>
                </a:highlight>
                <a:ea typeface="Nobile" pitchFamily="34" charset="-122"/>
                <a:cs typeface="Nobile" pitchFamily="34" charset="-120"/>
              </a:rPr>
              <a:t>75.5%</a:t>
            </a: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8667393" y="7304008"/>
            <a:ext cx="195226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0.6475</a:t>
            </a: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10995660" y="7304008"/>
            <a:ext cx="1956078" cy="2947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dirty="0">
                <a:solidFill>
                  <a:srgbClr val="FFFFFF"/>
                </a:solidFill>
                <a:highlight>
                  <a:srgbClr val="438951"/>
                </a:highlight>
                <a:ea typeface="Nobile" pitchFamily="34" charset="-122"/>
                <a:cs typeface="Nobile" pitchFamily="34" charset="-120"/>
              </a:rPr>
              <a:t>0.7303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1260" y="2308860"/>
            <a:ext cx="3611880" cy="36118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04599" y="1019889"/>
            <a:ext cx="1099304" cy="339923"/>
          </a:xfrm>
          <a:prstGeom prst="roundRect">
            <a:avLst>
              <a:gd name="adj" fmla="val 36593"/>
            </a:avLst>
          </a:prstGeom>
          <a:noFill/>
          <a:ln w="7620">
            <a:solidFill>
              <a:srgbClr val="438951"/>
            </a:solidFill>
            <a:prstDash val="solid"/>
          </a:ln>
        </p:spPr>
        <p:txBody>
          <a:bodyPr/>
          <a:lstStyle/>
          <a:p>
            <a:endParaRPr lang="en-IL" sz="2400"/>
          </a:p>
        </p:txBody>
      </p:sp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5804" y="1120735"/>
            <a:ext cx="138113" cy="138112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922972" y="1079302"/>
            <a:ext cx="669727" cy="2210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200" dirty="0">
                <a:solidFill>
                  <a:srgbClr val="438951"/>
                </a:solidFill>
                <a:ea typeface="Nobile" pitchFamily="34" charset="-122"/>
                <a:cs typeface="Nobile" pitchFamily="34" charset="-120"/>
              </a:rPr>
              <a:t>INSIGHTS</a:t>
            </a:r>
            <a:endParaRPr lang="en-US" sz="1200" dirty="0"/>
          </a:p>
        </p:txBody>
      </p:sp>
      <p:sp>
        <p:nvSpPr>
          <p:cNvPr id="7" name="Text 2"/>
          <p:cNvSpPr/>
          <p:nvPr/>
        </p:nvSpPr>
        <p:spPr>
          <a:xfrm>
            <a:off x="604599" y="1428869"/>
            <a:ext cx="7579757" cy="5399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250"/>
              </a:lnSpc>
              <a:buNone/>
            </a:pPr>
            <a:r>
              <a:rPr lang="en-US" sz="4000" b="1" dirty="0">
                <a:solidFill>
                  <a:srgbClr val="3B4540"/>
                </a:solidFill>
                <a:ea typeface="Fraunces Extra Bold" pitchFamily="34" charset="-122"/>
                <a:cs typeface="Fraunces Extra Bold" pitchFamily="34" charset="-120"/>
              </a:rPr>
              <a:t>Key Learnings &amp; Future Directions</a:t>
            </a:r>
            <a:endParaRPr lang="en-US" sz="4000" dirty="0"/>
          </a:p>
        </p:txBody>
      </p:sp>
      <p:sp>
        <p:nvSpPr>
          <p:cNvPr id="8" name="Shape 3"/>
          <p:cNvSpPr/>
          <p:nvPr/>
        </p:nvSpPr>
        <p:spPr>
          <a:xfrm>
            <a:off x="604599" y="2227898"/>
            <a:ext cx="7934801" cy="1317427"/>
          </a:xfrm>
          <a:prstGeom prst="roundRect">
            <a:avLst>
              <a:gd name="adj" fmla="val 11802"/>
            </a:avLst>
          </a:prstGeom>
          <a:solidFill>
            <a:srgbClr val="FAFFFA"/>
          </a:solidFill>
          <a:ln w="22860">
            <a:solidFill>
              <a:srgbClr val="CED9CE"/>
            </a:solidFill>
            <a:prstDash val="solid"/>
          </a:ln>
        </p:spPr>
        <p:txBody>
          <a:bodyPr/>
          <a:lstStyle/>
          <a:p>
            <a:endParaRPr lang="en-IL" sz="2400"/>
          </a:p>
        </p:txBody>
      </p:sp>
      <p:sp>
        <p:nvSpPr>
          <p:cNvPr id="9" name="Text 4"/>
          <p:cNvSpPr/>
          <p:nvPr/>
        </p:nvSpPr>
        <p:spPr>
          <a:xfrm>
            <a:off x="800219" y="2423517"/>
            <a:ext cx="2159437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ea typeface="Fraunces Extra Bold" pitchFamily="34" charset="-122"/>
                <a:cs typeface="Fraunces Extra Bold" pitchFamily="34" charset="-120"/>
              </a:rPr>
              <a:t>Achievement</a:t>
            </a:r>
            <a:endParaRPr lang="en-US" sz="2000" dirty="0"/>
          </a:p>
        </p:txBody>
      </p:sp>
      <p:sp>
        <p:nvSpPr>
          <p:cNvPr id="10" name="Text 5"/>
          <p:cNvSpPr/>
          <p:nvPr/>
        </p:nvSpPr>
        <p:spPr>
          <a:xfrm>
            <a:off x="800219" y="2797016"/>
            <a:ext cx="7543562" cy="55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Successfully trained universal model that predicts components and severity on unseen workflows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604599" y="3718084"/>
            <a:ext cx="7934801" cy="1377791"/>
          </a:xfrm>
          <a:prstGeom prst="roundRect">
            <a:avLst>
              <a:gd name="adj" fmla="val 11285"/>
            </a:avLst>
          </a:prstGeom>
          <a:solidFill>
            <a:srgbClr val="FAFFFA"/>
          </a:solidFill>
          <a:ln w="22860">
            <a:solidFill>
              <a:srgbClr val="CED9CE"/>
            </a:solidFill>
            <a:prstDash val="solid"/>
          </a:ln>
        </p:spPr>
        <p:txBody>
          <a:bodyPr/>
          <a:lstStyle/>
          <a:p>
            <a:endParaRPr lang="en-IL" sz="2400"/>
          </a:p>
        </p:txBody>
      </p:sp>
      <p:sp>
        <p:nvSpPr>
          <p:cNvPr id="12" name="Text 7"/>
          <p:cNvSpPr/>
          <p:nvPr/>
        </p:nvSpPr>
        <p:spPr>
          <a:xfrm>
            <a:off x="800219" y="3913703"/>
            <a:ext cx="2159437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ea typeface="Fraunces Extra Bold" pitchFamily="34" charset="-122"/>
                <a:cs typeface="Fraunces Extra Bold" pitchFamily="34" charset="-120"/>
              </a:rPr>
              <a:t>Critical Lessons</a:t>
            </a:r>
            <a:endParaRPr lang="en-US" sz="2000" dirty="0"/>
          </a:p>
        </p:txBody>
      </p:sp>
      <p:sp>
        <p:nvSpPr>
          <p:cNvPr id="13" name="Text 8"/>
          <p:cNvSpPr/>
          <p:nvPr/>
        </p:nvSpPr>
        <p:spPr>
          <a:xfrm>
            <a:off x="800219" y="4287203"/>
            <a:ext cx="7543562" cy="276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Clear label definitions essential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800219" y="4623911"/>
            <a:ext cx="7543562" cy="276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150"/>
              </a:lnSpc>
              <a:buSzPct val="100000"/>
              <a:buChar char="•"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Testing on unseen data is crucial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04599" y="5354955"/>
            <a:ext cx="2591395" cy="3239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800" b="1" dirty="0">
                <a:solidFill>
                  <a:srgbClr val="3B4540"/>
                </a:solidFill>
                <a:ea typeface="Fraunces Extra Bold" pitchFamily="34" charset="-122"/>
                <a:cs typeface="Fraunces Extra Bold" pitchFamily="34" charset="-120"/>
              </a:rPr>
              <a:t>Future Exploration</a:t>
            </a:r>
            <a:endParaRPr lang="en-US" sz="2800" dirty="0"/>
          </a:p>
        </p:txBody>
      </p:sp>
      <p:sp>
        <p:nvSpPr>
          <p:cNvPr id="16" name="Shape 11"/>
          <p:cNvSpPr/>
          <p:nvPr/>
        </p:nvSpPr>
        <p:spPr>
          <a:xfrm>
            <a:off x="604599" y="5938004"/>
            <a:ext cx="3880961" cy="1271707"/>
          </a:xfrm>
          <a:prstGeom prst="roundRect">
            <a:avLst>
              <a:gd name="adj" fmla="val 32604"/>
            </a:avLst>
          </a:prstGeom>
          <a:solidFill>
            <a:srgbClr val="E8F3E8"/>
          </a:solidFill>
          <a:ln/>
        </p:spPr>
        <p:txBody>
          <a:bodyPr/>
          <a:lstStyle/>
          <a:p>
            <a:endParaRPr lang="en-IL" sz="2400"/>
          </a:p>
        </p:txBody>
      </p:sp>
      <p:sp>
        <p:nvSpPr>
          <p:cNvPr id="17" name="Text 12"/>
          <p:cNvSpPr/>
          <p:nvPr/>
        </p:nvSpPr>
        <p:spPr>
          <a:xfrm>
            <a:off x="1465302" y="6110764"/>
            <a:ext cx="2159437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2000" b="1" dirty="0">
                <a:solidFill>
                  <a:srgbClr val="405449"/>
                </a:solidFill>
                <a:ea typeface="Fraunces Extra Bold" pitchFamily="34" charset="-122"/>
                <a:cs typeface="Fraunces Extra Bold" pitchFamily="34" charset="-120"/>
              </a:rPr>
              <a:t>Real-World Data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777359" y="6484263"/>
            <a:ext cx="3535442" cy="55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Deploy with multiple companies, collect real tickets for enhanced training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4658320" y="5938004"/>
            <a:ext cx="3881080" cy="1271707"/>
          </a:xfrm>
          <a:prstGeom prst="roundRect">
            <a:avLst>
              <a:gd name="adj" fmla="val 32604"/>
            </a:avLst>
          </a:prstGeom>
          <a:solidFill>
            <a:srgbClr val="E8F3E8"/>
          </a:solidFill>
          <a:ln/>
        </p:spPr>
        <p:txBody>
          <a:bodyPr/>
          <a:lstStyle/>
          <a:p>
            <a:endParaRPr lang="en-IL" sz="2400" dirty="0"/>
          </a:p>
        </p:txBody>
      </p:sp>
      <p:sp>
        <p:nvSpPr>
          <p:cNvPr id="20" name="Text 15"/>
          <p:cNvSpPr/>
          <p:nvPr/>
        </p:nvSpPr>
        <p:spPr>
          <a:xfrm>
            <a:off x="5519142" y="6110764"/>
            <a:ext cx="2159437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2100"/>
              </a:lnSpc>
            </a:pPr>
            <a:r>
              <a:rPr lang="en-US" sz="2000" b="1" dirty="0">
                <a:solidFill>
                  <a:srgbClr val="405449"/>
                </a:solidFill>
              </a:rPr>
              <a:t>Learning from feedback</a:t>
            </a:r>
            <a:endParaRPr lang="en-US" sz="2000" dirty="0"/>
          </a:p>
        </p:txBody>
      </p:sp>
      <p:sp>
        <p:nvSpPr>
          <p:cNvPr id="21" name="Text 16"/>
          <p:cNvSpPr/>
          <p:nvPr/>
        </p:nvSpPr>
        <p:spPr>
          <a:xfrm>
            <a:off x="4831080" y="6484263"/>
            <a:ext cx="3535561" cy="55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600" dirty="0">
                <a:solidFill>
                  <a:srgbClr val="405449"/>
                </a:solidFill>
                <a:ea typeface="Nobile" pitchFamily="34" charset="-122"/>
                <a:cs typeface="Nobile" pitchFamily="34" charset="-120"/>
              </a:rPr>
              <a:t>User corrections as supervision signals for continuous model improvement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397</TotalTime>
  <Words>518</Words>
  <Application>Microsoft Office PowerPoint</Application>
  <PresentationFormat>Custom</PresentationFormat>
  <Paragraphs>131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9" baseType="lpstr">
      <vt:lpstr>Nobile</vt:lpstr>
      <vt:lpstr>Aptos Display</vt:lpstr>
      <vt:lpstr>Inter Bold</vt:lpstr>
      <vt:lpstr>Calibri</vt:lpstr>
      <vt:lpstr>Aptos</vt:lpstr>
      <vt:lpstr>Arial</vt:lpstr>
      <vt:lpstr>Inter</vt:lpstr>
      <vt:lpstr>Fraunces Extra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lastModifiedBy>abed haj yahia</cp:lastModifiedBy>
  <cp:revision>25</cp:revision>
  <dcterms:created xsi:type="dcterms:W3CDTF">2026-01-15T15:44:16Z</dcterms:created>
  <dcterms:modified xsi:type="dcterms:W3CDTF">2026-01-19T09:06:10Z</dcterms:modified>
</cp:coreProperties>
</file>